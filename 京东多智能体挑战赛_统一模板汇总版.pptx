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sldIdLst>
    <p:sldId id="256" r:id="rId3"/>
    <p:sldId id="261" r:id="rId5"/>
    <p:sldId id="260" r:id="rId6"/>
    <p:sldId id="275" r:id="rId7"/>
    <p:sldId id="278" r:id="rId8"/>
    <p:sldId id="279" r:id="rId9"/>
    <p:sldId id="289" r:id="rId10"/>
    <p:sldId id="290" r:id="rId11"/>
    <p:sldId id="291" r:id="rId12"/>
    <p:sldId id="292" r:id="rId13"/>
    <p:sldId id="296" r:id="rId14"/>
    <p:sldId id="301" r:id="rId15"/>
    <p:sldId id="300" r:id="rId16"/>
    <p:sldId id="302" r:id="rId17"/>
    <p:sldId id="304" r:id="rId18"/>
    <p:sldId id="282" r:id="rId19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1">
          <p15:clr>
            <a:srgbClr val="A4A3A4"/>
          </p15:clr>
        </p15:guide>
        <p15:guide id="2" pos="37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63" y="207"/>
      </p:cViewPr>
      <p:guideLst>
        <p:guide orient="horz" pos="2156"/>
        <p:guide pos="378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4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4A5EBB-10F6-463D-A1C9-2FF04F725E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611CF7-5005-43FE-83F8-F59B6FC0F0A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11CF7-5005-43FE-83F8-F59B6FC0F0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11CF7-5005-43FE-83F8-F59B6FC0F0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11CF7-5005-43FE-83F8-F59B6FC0F0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11CF7-5005-43FE-83F8-F59B6FC0F0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11CF7-5005-43FE-83F8-F59B6FC0F0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11CF7-5005-43FE-83F8-F59B6FC0F0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11CF7-5005-43FE-83F8-F59B6FC0F0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11CF7-5005-43FE-83F8-F59B6FC0F0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11CF7-5005-43FE-83F8-F59B6FC0F0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11CF7-5005-43FE-83F8-F59B6FC0F0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11CF7-5005-43FE-83F8-F59B6FC0F0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11CF7-5005-43FE-83F8-F59B6FC0F0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11CF7-5005-43FE-83F8-F59B6FC0F0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方案说明：每个购买情境下先离线生成单 Agent 与多 Agent 两份建议。问卷呈现时隐藏来源并随机左右顺序。主要指标为在明确选择甲或乙的回答中，多 Agent 建议被选中的比例；“都不选”另行报告。建议招募约 18–24 名参与者，设置 4–6 个购买情境，作为探索性研究。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11CF7-5005-43FE-83F8-F59B6FC0F0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351B01-D27C-44B9-86C4-6069CF4A37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0C2D7C-0779-45E4-815E-D57472C69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351B01-D27C-44B9-86C4-6069CF4A37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0C2D7C-0779-45E4-815E-D57472C69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351B01-D27C-44B9-86C4-6069CF4A37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0C2D7C-0779-45E4-815E-D57472C69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351B01-D27C-44B9-86C4-6069CF4A37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0C2D7C-0779-45E4-815E-D57472C69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351B01-D27C-44B9-86C4-6069CF4A37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0C2D7C-0779-45E4-815E-D57472C69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351B01-D27C-44B9-86C4-6069CF4A37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0C2D7C-0779-45E4-815E-D57472C69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351B01-D27C-44B9-86C4-6069CF4A37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0C2D7C-0779-45E4-815E-D57472C69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351B01-D27C-44B9-86C4-6069CF4A37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0C2D7C-0779-45E4-815E-D57472C69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351B01-D27C-44B9-86C4-6069CF4A37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0C2D7C-0779-45E4-815E-D57472C69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351B01-D27C-44B9-86C4-6069CF4A37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0C2D7C-0779-45E4-815E-D57472C69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351B01-D27C-44B9-86C4-6069CF4A37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0C2D7C-0779-45E4-815E-D57472C69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/>
        </p:nvSpPr>
        <p:spPr>
          <a:xfrm>
            <a:off x="1909192" y="2652141"/>
            <a:ext cx="74066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noFill/>
                <a:effectLst>
                  <a:outerShdw sx="1000" sy="1000" algn="ctr" rotWithShape="0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雷锋</a:t>
            </a:r>
            <a:r>
              <a:rPr lang="en-US" altLang="zh-CN" sz="900" dirty="0">
                <a:noFill/>
                <a:effectLst>
                  <a:outerShdw sx="1000" sy="1000" algn="ctr" rotWithShape="0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900" dirty="0">
                <a:noFill/>
                <a:effectLst>
                  <a:outerShdw sx="1000" sy="1000" algn="ctr" rotWithShape="0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</a:t>
            </a:r>
            <a:r>
              <a:rPr lang="en-US" altLang="zh-CN" sz="900" dirty="0">
                <a:noFill/>
                <a:effectLst>
                  <a:outerShdw sx="1000" sy="1000" algn="ctr" rotWithShape="0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-WWW.LFPPT.COM</a:t>
            </a:r>
            <a:r>
              <a:rPr lang="zh-CN" altLang="en-US" sz="900" dirty="0">
                <a:noFill/>
                <a:effectLst>
                  <a:outerShdw sx="1000" sy="1000" algn="ctr" rotWithShape="0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平台上提供的</a:t>
            </a:r>
            <a:r>
              <a:rPr lang="en-US" altLang="zh-CN" sz="900" dirty="0">
                <a:noFill/>
                <a:effectLst>
                  <a:outerShdw sx="1000" sy="1000" algn="ctr" rotWithShape="0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900" dirty="0">
                <a:noFill/>
                <a:effectLst>
                  <a:outerShdw sx="1000" sy="1000" algn="ctr" rotWithShape="0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作品，雷锋</a:t>
            </a:r>
            <a:r>
              <a:rPr lang="en-US" altLang="zh-CN" sz="900" dirty="0">
                <a:noFill/>
                <a:effectLst>
                  <a:outerShdw sx="1000" sy="1000" algn="ctr" rotWithShape="0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900" dirty="0">
                <a:noFill/>
                <a:effectLst>
                  <a:outerShdw sx="1000" sy="1000" algn="ctr" rotWithShape="0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</a:t>
            </a:r>
            <a:r>
              <a:rPr lang="en-US" altLang="zh-CN" sz="900" dirty="0">
                <a:noFill/>
                <a:effectLst>
                  <a:outerShdw sx="1000" sy="1000" algn="ctr" rotWithShape="0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-WWW.LFPPT.COM</a:t>
            </a:r>
            <a:r>
              <a:rPr lang="zh-CN" altLang="en-US" sz="900" dirty="0">
                <a:noFill/>
                <a:effectLst>
                  <a:outerShdw sx="1000" sy="1000" algn="ctr" rotWithShape="0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每天更新</a:t>
            </a:r>
            <a:r>
              <a:rPr lang="en-US" altLang="zh-CN" sz="900" dirty="0">
                <a:noFill/>
                <a:effectLst>
                  <a:outerShdw sx="1000" sy="1000" algn="ctr" rotWithShape="0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900" dirty="0">
                <a:noFill/>
                <a:effectLst>
                  <a:outerShdw sx="1000" sy="1000" algn="ctr" rotWithShape="0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模板</a:t>
            </a:r>
            <a:endParaRPr lang="zh-CN" altLang="en-US" sz="900" dirty="0">
              <a:noFill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microsoft.com/office/2007/relationships/media" Target="../media/media1.mp3"/><Relationship Id="rId3" Type="http://schemas.openxmlformats.org/officeDocument/2006/relationships/audio" Target="../media/media1.mp3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hemeOverride" Target="../theme/themeOverride2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themeOverride" Target="../theme/themeOverride3.xml"/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media" Target="../media/media1.mp3"/><Relationship Id="rId3" Type="http://schemas.openxmlformats.org/officeDocument/2006/relationships/audio" Target="../media/media1.mp3"/><Relationship Id="rId2" Type="http://schemas.openxmlformats.org/officeDocument/2006/relationships/tags" Target="../tags/tag3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雷锋PPT网www.lfppt.com"/>
          <p:cNvSpPr/>
          <p:nvPr/>
        </p:nvSpPr>
        <p:spPr>
          <a:xfrm>
            <a:off x="6011840" y="0"/>
            <a:ext cx="6180159" cy="6858000"/>
          </a:xfrm>
          <a:prstGeom prst="rect">
            <a:avLst/>
          </a:prstGeom>
          <a:solidFill>
            <a:schemeClr val="accent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026920" y="1115775"/>
            <a:ext cx="7752080" cy="3596640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026920" y="1115775"/>
            <a:ext cx="3984920" cy="359664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397388" y="1733281"/>
            <a:ext cx="71180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000" spc="600" dirty="0">
                <a:solidFill>
                  <a:srgbClr val="557F9A"/>
                </a:solidFill>
                <a:latin typeface="叶根友特楷简体" panose="02010601030101010101" pitchFamily="2" charset="-122"/>
                <a:ea typeface="叶根友特楷简体" panose="02010601030101010101" pitchFamily="2" charset="-122"/>
              </a:rPr>
              <a:t>“京东多智能体</a:t>
            </a:r>
            <a:r>
              <a:rPr lang="zh-CN" altLang="en-US" sz="4000" spc="600" dirty="0">
                <a:solidFill>
                  <a:schemeClr val="bg1"/>
                </a:solidFill>
                <a:latin typeface="叶根友特楷简体" panose="02010601030101010101" pitchFamily="2" charset="-122"/>
                <a:ea typeface="叶根友特楷简体" panose="02010601030101010101" pitchFamily="2" charset="-122"/>
              </a:rPr>
              <a:t>挑战赛”           专题调研</a:t>
            </a:r>
            <a:endParaRPr lang="zh-CN" altLang="en-US" sz="6000" spc="600" dirty="0">
              <a:solidFill>
                <a:schemeClr val="bg1"/>
              </a:solidFill>
              <a:latin typeface="叶根友特楷简体" panose="02010601030101010101" pitchFamily="2" charset="-122"/>
              <a:ea typeface="叶根友特楷简体" panose="02010601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81281" y="3047952"/>
            <a:ext cx="769771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B0F0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University of the Chinese Academy  of Sciences</a:t>
            </a:r>
            <a:endParaRPr lang="en-US" altLang="zh-CN" sz="2800" b="1" dirty="0">
              <a:solidFill>
                <a:srgbClr val="00B0F0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4000" b="1" spc="600" dirty="0">
                <a:solidFill>
                  <a:srgbClr val="557F9A"/>
                </a:solidFill>
                <a:ea typeface="A-OTF Outai Kaisho Std Light" panose="02020300000000000000" pitchFamily="18" charset="-128"/>
              </a:rPr>
              <a:t>REPORT</a:t>
            </a:r>
            <a:endParaRPr lang="zh-CN" altLang="en-US" sz="4000" b="1" spc="600" dirty="0">
              <a:solidFill>
                <a:srgbClr val="557F9A"/>
              </a:solidFill>
            </a:endParaRPr>
          </a:p>
        </p:txBody>
      </p:sp>
      <p:grpSp>
        <p:nvGrpSpPr>
          <p:cNvPr id="11" name="组合 12" descr="e7d195523061f1c0d318120d6aeaf1b6ccceb6ba3da59c0775C5DE19DDDEBC09ED96DBD9900D9848D623ECAD1D4904B78047D0015C22C8BE97228BE8B5BFF08FE7A3AE04126DA07312A96C0F69F9BAB7B8762A2F02ECB167EB1D3D935132D44A03185F23F8625673A228DA0C7DA620D0616217B810CE4DCA0BDC2CD812D5F48220C6184BA351E466"/>
          <p:cNvGrpSpPr/>
          <p:nvPr/>
        </p:nvGrpSpPr>
        <p:grpSpPr>
          <a:xfrm flipH="1" flipV="1">
            <a:off x="9122464" y="1218411"/>
            <a:ext cx="552396" cy="498797"/>
            <a:chOff x="5934075" y="857250"/>
            <a:chExt cx="801688" cy="723900"/>
          </a:xfrm>
          <a:solidFill>
            <a:schemeClr val="bg1"/>
          </a:solidFill>
        </p:grpSpPr>
        <p:sp>
          <p:nvSpPr>
            <p:cNvPr id="12" name="Freeform 5"/>
            <p:cNvSpPr/>
            <p:nvPr/>
          </p:nvSpPr>
          <p:spPr bwMode="auto">
            <a:xfrm>
              <a:off x="5934075" y="857250"/>
              <a:ext cx="322263" cy="723900"/>
            </a:xfrm>
            <a:custGeom>
              <a:avLst/>
              <a:gdLst>
                <a:gd name="T0" fmla="*/ 1 w 198"/>
                <a:gd name="T1" fmla="*/ 444 h 444"/>
                <a:gd name="T2" fmla="*/ 1 w 198"/>
                <a:gd name="T3" fmla="*/ 232 h 444"/>
                <a:gd name="T4" fmla="*/ 14 w 198"/>
                <a:gd name="T5" fmla="*/ 146 h 444"/>
                <a:gd name="T6" fmla="*/ 55 w 198"/>
                <a:gd name="T7" fmla="*/ 76 h 444"/>
                <a:gd name="T8" fmla="*/ 118 w 198"/>
                <a:gd name="T9" fmla="*/ 25 h 444"/>
                <a:gd name="T10" fmla="*/ 198 w 198"/>
                <a:gd name="T11" fmla="*/ 0 h 444"/>
                <a:gd name="T12" fmla="*/ 198 w 198"/>
                <a:gd name="T13" fmla="*/ 91 h 444"/>
                <a:gd name="T14" fmla="*/ 126 w 198"/>
                <a:gd name="T15" fmla="*/ 144 h 444"/>
                <a:gd name="T16" fmla="*/ 106 w 198"/>
                <a:gd name="T17" fmla="*/ 231 h 444"/>
                <a:gd name="T18" fmla="*/ 198 w 198"/>
                <a:gd name="T19" fmla="*/ 231 h 444"/>
                <a:gd name="T20" fmla="*/ 198 w 198"/>
                <a:gd name="T21" fmla="*/ 444 h 444"/>
                <a:gd name="T22" fmla="*/ 1 w 198"/>
                <a:gd name="T23" fmla="*/ 444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8" h="444">
                  <a:moveTo>
                    <a:pt x="1" y="444"/>
                  </a:moveTo>
                  <a:cubicBezTo>
                    <a:pt x="1" y="232"/>
                    <a:pt x="1" y="232"/>
                    <a:pt x="1" y="232"/>
                  </a:cubicBezTo>
                  <a:cubicBezTo>
                    <a:pt x="0" y="202"/>
                    <a:pt x="5" y="173"/>
                    <a:pt x="14" y="146"/>
                  </a:cubicBezTo>
                  <a:cubicBezTo>
                    <a:pt x="24" y="120"/>
                    <a:pt x="38" y="96"/>
                    <a:pt x="55" y="76"/>
                  </a:cubicBezTo>
                  <a:cubicBezTo>
                    <a:pt x="73" y="55"/>
                    <a:pt x="94" y="39"/>
                    <a:pt x="118" y="25"/>
                  </a:cubicBezTo>
                  <a:cubicBezTo>
                    <a:pt x="143" y="12"/>
                    <a:pt x="169" y="3"/>
                    <a:pt x="198" y="0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63" y="103"/>
                    <a:pt x="139" y="121"/>
                    <a:pt x="126" y="144"/>
                  </a:cubicBezTo>
                  <a:cubicBezTo>
                    <a:pt x="113" y="168"/>
                    <a:pt x="106" y="197"/>
                    <a:pt x="106" y="231"/>
                  </a:cubicBezTo>
                  <a:cubicBezTo>
                    <a:pt x="198" y="231"/>
                    <a:pt x="198" y="231"/>
                    <a:pt x="198" y="231"/>
                  </a:cubicBezTo>
                  <a:cubicBezTo>
                    <a:pt x="198" y="444"/>
                    <a:pt x="198" y="444"/>
                    <a:pt x="198" y="444"/>
                  </a:cubicBezTo>
                  <a:cubicBezTo>
                    <a:pt x="1" y="444"/>
                    <a:pt x="1" y="444"/>
                    <a:pt x="1" y="4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WenYue GuDianMingChaoTi (Non-Commercial Use)" pitchFamily="50" charset="-122"/>
                <a:sym typeface="Segoe Script" panose="030B0504020000000003" pitchFamily="66" charset="0"/>
              </a:endParaRPr>
            </a:p>
          </p:txBody>
        </p:sp>
        <p:sp>
          <p:nvSpPr>
            <p:cNvPr id="13" name="Freeform 6"/>
            <p:cNvSpPr/>
            <p:nvPr/>
          </p:nvSpPr>
          <p:spPr bwMode="auto">
            <a:xfrm>
              <a:off x="6413500" y="857250"/>
              <a:ext cx="322263" cy="723900"/>
            </a:xfrm>
            <a:custGeom>
              <a:avLst/>
              <a:gdLst>
                <a:gd name="T0" fmla="*/ 1 w 198"/>
                <a:gd name="T1" fmla="*/ 444 h 444"/>
                <a:gd name="T2" fmla="*/ 1 w 198"/>
                <a:gd name="T3" fmla="*/ 232 h 444"/>
                <a:gd name="T4" fmla="*/ 14 w 198"/>
                <a:gd name="T5" fmla="*/ 146 h 444"/>
                <a:gd name="T6" fmla="*/ 55 w 198"/>
                <a:gd name="T7" fmla="*/ 76 h 444"/>
                <a:gd name="T8" fmla="*/ 118 w 198"/>
                <a:gd name="T9" fmla="*/ 25 h 444"/>
                <a:gd name="T10" fmla="*/ 198 w 198"/>
                <a:gd name="T11" fmla="*/ 0 h 444"/>
                <a:gd name="T12" fmla="*/ 198 w 198"/>
                <a:gd name="T13" fmla="*/ 91 h 444"/>
                <a:gd name="T14" fmla="*/ 126 w 198"/>
                <a:gd name="T15" fmla="*/ 144 h 444"/>
                <a:gd name="T16" fmla="*/ 107 w 198"/>
                <a:gd name="T17" fmla="*/ 231 h 444"/>
                <a:gd name="T18" fmla="*/ 198 w 198"/>
                <a:gd name="T19" fmla="*/ 231 h 444"/>
                <a:gd name="T20" fmla="*/ 198 w 198"/>
                <a:gd name="T21" fmla="*/ 444 h 444"/>
                <a:gd name="T22" fmla="*/ 1 w 198"/>
                <a:gd name="T23" fmla="*/ 444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8" h="444">
                  <a:moveTo>
                    <a:pt x="1" y="444"/>
                  </a:moveTo>
                  <a:cubicBezTo>
                    <a:pt x="1" y="232"/>
                    <a:pt x="1" y="232"/>
                    <a:pt x="1" y="232"/>
                  </a:cubicBezTo>
                  <a:cubicBezTo>
                    <a:pt x="0" y="202"/>
                    <a:pt x="5" y="173"/>
                    <a:pt x="14" y="146"/>
                  </a:cubicBezTo>
                  <a:cubicBezTo>
                    <a:pt x="24" y="120"/>
                    <a:pt x="38" y="96"/>
                    <a:pt x="55" y="76"/>
                  </a:cubicBezTo>
                  <a:cubicBezTo>
                    <a:pt x="73" y="55"/>
                    <a:pt x="94" y="39"/>
                    <a:pt x="118" y="25"/>
                  </a:cubicBezTo>
                  <a:cubicBezTo>
                    <a:pt x="143" y="12"/>
                    <a:pt x="169" y="3"/>
                    <a:pt x="198" y="0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63" y="103"/>
                    <a:pt x="139" y="121"/>
                    <a:pt x="126" y="144"/>
                  </a:cubicBezTo>
                  <a:cubicBezTo>
                    <a:pt x="113" y="168"/>
                    <a:pt x="107" y="197"/>
                    <a:pt x="107" y="231"/>
                  </a:cubicBezTo>
                  <a:cubicBezTo>
                    <a:pt x="198" y="231"/>
                    <a:pt x="198" y="231"/>
                    <a:pt x="198" y="231"/>
                  </a:cubicBezTo>
                  <a:cubicBezTo>
                    <a:pt x="198" y="444"/>
                    <a:pt x="198" y="444"/>
                    <a:pt x="198" y="444"/>
                  </a:cubicBezTo>
                  <a:cubicBezTo>
                    <a:pt x="1" y="444"/>
                    <a:pt x="1" y="444"/>
                    <a:pt x="1" y="4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WenYue GuDianMingChaoTi (Non-Commercial Use)" pitchFamily="50" charset="-122"/>
                <a:sym typeface="Segoe Script" panose="030B0504020000000003" pitchFamily="66" charset="0"/>
              </a:endParaRPr>
            </a:p>
          </p:txBody>
        </p:sp>
        <p:sp>
          <p:nvSpPr>
            <p:cNvPr id="14" name="Line 7"/>
            <p:cNvSpPr>
              <a:spLocks noChangeShapeType="1"/>
            </p:cNvSpPr>
            <p:nvPr/>
          </p:nvSpPr>
          <p:spPr bwMode="auto">
            <a:xfrm>
              <a:off x="6415088" y="1581150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WenYue GuDianMingChaoTi (Non-Commercial Use)" pitchFamily="50" charset="-122"/>
                <a:sym typeface="Segoe Script" panose="030B0504020000000003" pitchFamily="66" charset="0"/>
              </a:endParaRPr>
            </a:p>
          </p:txBody>
        </p:sp>
        <p:sp>
          <p:nvSpPr>
            <p:cNvPr id="15" name="Line 8"/>
            <p:cNvSpPr>
              <a:spLocks noChangeShapeType="1"/>
            </p:cNvSpPr>
            <p:nvPr/>
          </p:nvSpPr>
          <p:spPr bwMode="auto">
            <a:xfrm>
              <a:off x="6415088" y="1581150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WenYue GuDianMingChaoTi (Non-Commercial Use)" pitchFamily="50" charset="-122"/>
                <a:sym typeface="Segoe Script" panose="030B0504020000000003" pitchFamily="66" charset="0"/>
              </a:endParaRPr>
            </a:p>
          </p:txBody>
        </p:sp>
      </p:grpSp>
      <p:grpSp>
        <p:nvGrpSpPr>
          <p:cNvPr id="16" name="PA_组 15" descr="e7d195523061f1c0d318120d6aeaf1b6ccceb6ba3da59c0775C5DE19DDDEBC09ED96DBD9900D9848D623ECAD1D4904B78047D0015C22C8BE97228BE8B5BFF08FE7A3AE04126DA07312A96C0F69F9BAB7B8762A2F02ECB167EB1D3D935132D44A03185F23F8625673A228DA0C7DA620D0616217B810CE4DCA0BDC2CD812D5F48220C6184BA351E466"/>
          <p:cNvGrpSpPr/>
          <p:nvPr>
            <p:custDataLst>
              <p:tags r:id="rId2"/>
            </p:custDataLst>
          </p:nvPr>
        </p:nvGrpSpPr>
        <p:grpSpPr>
          <a:xfrm>
            <a:off x="10698480" y="6010692"/>
            <a:ext cx="539487" cy="91226"/>
            <a:chOff x="989510" y="6337738"/>
            <a:chExt cx="683708" cy="115614"/>
          </a:xfrm>
        </p:grpSpPr>
        <p:sp>
          <p:nvSpPr>
            <p:cNvPr id="17" name="椭圆 16"/>
            <p:cNvSpPr/>
            <p:nvPr/>
          </p:nvSpPr>
          <p:spPr>
            <a:xfrm>
              <a:off x="989510" y="6337738"/>
              <a:ext cx="115614" cy="11561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cript" panose="030B0504020000000003" pitchFamily="66" charset="0"/>
                <a:ea typeface="WenYue GuDianMingChaoTi (Non-Commercial Use)" pitchFamily="50" charset="-122"/>
                <a:sym typeface="Segoe Script" panose="030B0504020000000003" pitchFamily="66" charset="0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273557" y="6337738"/>
              <a:ext cx="115614" cy="1156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cript" panose="030B0504020000000003" pitchFamily="66" charset="0"/>
                <a:ea typeface="WenYue GuDianMingChaoTi (Non-Commercial Use)" pitchFamily="50" charset="-122"/>
                <a:sym typeface="Segoe Script" panose="030B0504020000000003" pitchFamily="66" charset="0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557604" y="6337738"/>
              <a:ext cx="115614" cy="1156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cript" panose="030B0504020000000003" pitchFamily="66" charset="0"/>
                <a:ea typeface="WenYue GuDianMingChaoTi (Non-Commercial Use)" pitchFamily="50" charset="-122"/>
                <a:sym typeface="Segoe Script" panose="030B0504020000000003" pitchFamily="66" charset="0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1610800" y="-162560"/>
            <a:ext cx="346249" cy="7228840"/>
            <a:chOff x="11610800" y="-71120"/>
            <a:chExt cx="346249" cy="7228840"/>
          </a:xfrm>
        </p:grpSpPr>
        <p:sp>
          <p:nvSpPr>
            <p:cNvPr id="20" name="文本框 19"/>
            <p:cNvSpPr txBox="1"/>
            <p:nvPr/>
          </p:nvSpPr>
          <p:spPr>
            <a:xfrm>
              <a:off x="11610800" y="1559560"/>
              <a:ext cx="346249" cy="374904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zh-CN" sz="1050" spc="600" dirty="0">
                  <a:solidFill>
                    <a:schemeClr val="bg1"/>
                  </a:solidFill>
                  <a:latin typeface="造字工房力黑（非商用）常规体" pitchFamily="50" charset="-122"/>
                  <a:ea typeface="造字工房力黑（非商用）常规体" pitchFamily="50" charset="-122"/>
                </a:rPr>
                <a:t>ADD YOUR TITLE HERE</a:t>
              </a:r>
              <a:endParaRPr lang="zh-CN" altLang="en-US" sz="1050" spc="600" dirty="0">
                <a:solidFill>
                  <a:schemeClr val="bg1"/>
                </a:solidFill>
                <a:latin typeface="造字工房力黑（非商用）常规体" pitchFamily="50" charset="-122"/>
                <a:ea typeface="造字工房力黑（非商用）常规体" pitchFamily="50" charset="-122"/>
              </a:endParaRPr>
            </a:p>
          </p:txBody>
        </p:sp>
        <p:cxnSp>
          <p:nvCxnSpPr>
            <p:cNvPr id="22" name="直接连接符 21"/>
            <p:cNvCxnSpPr>
              <a:stCxn id="20" idx="0"/>
            </p:cNvCxnSpPr>
            <p:nvPr/>
          </p:nvCxnSpPr>
          <p:spPr>
            <a:xfrm flipV="1">
              <a:off x="11783925" y="-71120"/>
              <a:ext cx="0" cy="1630680"/>
            </a:xfrm>
            <a:prstGeom prst="line">
              <a:avLst/>
            </a:prstGeom>
            <a:ln w="25400">
              <a:solidFill>
                <a:schemeClr val="bg1">
                  <a:lumMod val="9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stCxn id="20" idx="2"/>
            </p:cNvCxnSpPr>
            <p:nvPr/>
          </p:nvCxnSpPr>
          <p:spPr>
            <a:xfrm>
              <a:off x="11783925" y="5308600"/>
              <a:ext cx="21995" cy="1849120"/>
            </a:xfrm>
            <a:prstGeom prst="line">
              <a:avLst/>
            </a:prstGeom>
            <a:ln w="25400">
              <a:solidFill>
                <a:schemeClr val="bg1">
                  <a:lumMod val="9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Thomas Greenberg - The Right Path"/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fade in="5000.000000" out="5000.000000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0602" y="6890916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4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8178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gency FB" panose="020B0503020202020204" pitchFamily="34" charset="0"/>
              <a:ea typeface="微软雅黑 Light" panose="020B0502040204020203" pitchFamily="34" charset="-122"/>
              <a:sym typeface="Agency FB" panose="020B0503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498080" y="2702560"/>
            <a:ext cx="4043680" cy="1737360"/>
            <a:chOff x="7498080" y="2702560"/>
            <a:chExt cx="4043680" cy="1737360"/>
          </a:xfrm>
        </p:grpSpPr>
        <p:sp>
          <p:nvSpPr>
            <p:cNvPr id="16" name="矩形 15"/>
            <p:cNvSpPr/>
            <p:nvPr/>
          </p:nvSpPr>
          <p:spPr>
            <a:xfrm>
              <a:off x="7498080" y="2702560"/>
              <a:ext cx="3759200" cy="1452880"/>
            </a:xfrm>
            <a:prstGeom prst="rect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  <a:effectLst>
              <a:outerShdw blurRad="50800" dist="38100" dir="2700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造字工房力黑（非商用）常规体" pitchFamily="50" charset="-122"/>
                <a:ea typeface="造字工房力黑（非商用）常规体" pitchFamily="50" charset="-122"/>
                <a:sym typeface="Agency FB" panose="020B0503020202020204" pitchFamily="34" charset="0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0754360" y="3652520"/>
              <a:ext cx="787400" cy="787400"/>
            </a:xfrm>
            <a:prstGeom prst="rect">
              <a:avLst/>
            </a:prstGeom>
            <a:noFill/>
            <a:ln w="38100"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造字工房力黑（非商用）常规体" pitchFamily="50" charset="-122"/>
                <a:ea typeface="造字工房力黑（非商用）常规体" pitchFamily="50" charset="-122"/>
                <a:sym typeface="Agency FB" panose="020B050302020202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675418" y="3059668"/>
              <a:ext cx="33532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spc="300" dirty="0">
                  <a:solidFill>
                    <a:schemeClr val="bg1"/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sym typeface="Agency FB" panose="020B0503020202020204" pitchFamily="34" charset="0"/>
                </a:rPr>
                <a:t>CONTENTS</a:t>
              </a:r>
              <a:endParaRPr lang="zh-CN" altLang="en-US" sz="3200" spc="300" dirty="0">
                <a:solidFill>
                  <a:schemeClr val="bg1"/>
                </a:solidFill>
                <a:latin typeface="造字工房力黑（非商用）常规体" pitchFamily="50" charset="-122"/>
                <a:ea typeface="造字工房力黑（非商用）常规体" pitchFamily="50" charset="-122"/>
                <a:sym typeface="Agency FB" panose="020B0503020202020204" pitchFamily="34" charset="0"/>
              </a:endParaRPr>
            </a:p>
          </p:txBody>
        </p:sp>
      </p:grpSp>
      <p:grpSp>
        <p:nvGrpSpPr>
          <p:cNvPr id="19" name="Group 283"/>
          <p:cNvGrpSpPr/>
          <p:nvPr/>
        </p:nvGrpSpPr>
        <p:grpSpPr>
          <a:xfrm>
            <a:off x="2046169" y="1420185"/>
            <a:ext cx="5390745" cy="4004195"/>
            <a:chOff x="6792409" y="1619395"/>
            <a:chExt cx="4430099" cy="3290636"/>
          </a:xfrm>
        </p:grpSpPr>
        <p:sp>
          <p:nvSpPr>
            <p:cNvPr id="20" name="Diamond 286"/>
            <p:cNvSpPr/>
            <p:nvPr/>
          </p:nvSpPr>
          <p:spPr>
            <a:xfrm>
              <a:off x="6792409" y="4285682"/>
              <a:ext cx="624349" cy="624349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altLang="zh-CN" sz="1600">
                  <a:solidFill>
                    <a:schemeClr val="bg1"/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Agency FB" panose="020B0503020202020204" pitchFamily="34" charset="0"/>
                </a:rPr>
                <a:t>04</a:t>
              </a:r>
              <a:endParaRPr lang="en-US" altLang="zh-CN" sz="1600">
                <a:solidFill>
                  <a:schemeClr val="bg1"/>
                </a:solidFill>
                <a:latin typeface="造字工房力黑（非商用）常规体" pitchFamily="50" charset="-122"/>
                <a:ea typeface="造字工房力黑（非商用）常规体" pitchFamily="50" charset="-122"/>
                <a:cs typeface="+mn-ea"/>
                <a:sym typeface="Agency FB" panose="020B0503020202020204" pitchFamily="34" charset="0"/>
              </a:endParaRPr>
            </a:p>
          </p:txBody>
        </p:sp>
        <p:sp>
          <p:nvSpPr>
            <p:cNvPr id="46" name="TextBox 300"/>
            <p:cNvSpPr txBox="1"/>
            <p:nvPr/>
          </p:nvSpPr>
          <p:spPr>
            <a:xfrm>
              <a:off x="7259934" y="4255123"/>
              <a:ext cx="3962574" cy="303981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Autofit/>
            </a:bodyPr>
            <a:lstStyle/>
            <a:p>
              <a:pPr algn="l"/>
              <a:r>
                <a:rPr lang="zh-CN" altLang="en-US" sz="2400" spc="600" dirty="0">
                  <a:solidFill>
                    <a:schemeClr val="accent4">
                      <a:lumMod val="100000"/>
                    </a:schemeClr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Agency FB" panose="020B0503020202020204" pitchFamily="34" charset="0"/>
                </a:rPr>
                <a:t>方案与实验设计</a:t>
              </a:r>
              <a:endParaRPr lang="zh-CN" altLang="en-US" sz="2400" spc="600" dirty="0">
                <a:solidFill>
                  <a:schemeClr val="accent4">
                    <a:lumMod val="100000"/>
                  </a:schemeClr>
                </a:solidFill>
                <a:latin typeface="造字工房力黑（非商用）常规体" pitchFamily="50" charset="-122"/>
                <a:ea typeface="造字工房力黑（非商用）常规体" pitchFamily="50" charset="-122"/>
                <a:cs typeface="+mn-ea"/>
                <a:sym typeface="Agency FB" panose="020B0503020202020204" pitchFamily="34" charset="0"/>
              </a:endParaRPr>
            </a:p>
          </p:txBody>
        </p:sp>
        <p:sp>
          <p:nvSpPr>
            <p:cNvPr id="24" name="Diamond 288"/>
            <p:cNvSpPr/>
            <p:nvPr/>
          </p:nvSpPr>
          <p:spPr>
            <a:xfrm>
              <a:off x="6792409" y="3407106"/>
              <a:ext cx="624349" cy="624349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altLang="zh-CN" sz="1600">
                  <a:solidFill>
                    <a:schemeClr val="bg1"/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Agency FB" panose="020B0503020202020204" pitchFamily="34" charset="0"/>
                </a:rPr>
                <a:t>03</a:t>
              </a:r>
              <a:endParaRPr lang="en-US" altLang="zh-CN" sz="1600">
                <a:solidFill>
                  <a:schemeClr val="bg1"/>
                </a:solidFill>
                <a:latin typeface="造字工房力黑（非商用）常规体" pitchFamily="50" charset="-122"/>
                <a:ea typeface="造字工房力黑（非商用）常规体" pitchFamily="50" charset="-122"/>
                <a:cs typeface="+mn-ea"/>
                <a:sym typeface="Agency FB" panose="020B0503020202020204" pitchFamily="34" charset="0"/>
              </a:endParaRPr>
            </a:p>
          </p:txBody>
        </p:sp>
        <p:sp>
          <p:nvSpPr>
            <p:cNvPr id="44" name="TextBox 298"/>
            <p:cNvSpPr txBox="1"/>
            <p:nvPr/>
          </p:nvSpPr>
          <p:spPr>
            <a:xfrm>
              <a:off x="7259934" y="3376547"/>
              <a:ext cx="3962574" cy="303981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Autofit/>
            </a:bodyPr>
            <a:lstStyle/>
            <a:p>
              <a:pPr algn="l"/>
              <a:r>
                <a:rPr lang="zh-CN" altLang="en-US" sz="2400" spc="600" dirty="0">
                  <a:solidFill>
                    <a:schemeClr val="accent3">
                      <a:lumMod val="100000"/>
                    </a:schemeClr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Agency FB" panose="020B0503020202020204" pitchFamily="34" charset="0"/>
                </a:rPr>
                <a:t>产业与赛题调研</a:t>
              </a:r>
              <a:endParaRPr lang="zh-CN" altLang="en-US" sz="2400" spc="600" dirty="0">
                <a:solidFill>
                  <a:schemeClr val="accent3">
                    <a:lumMod val="100000"/>
                  </a:schemeClr>
                </a:solidFill>
                <a:latin typeface="造字工房力黑（非商用）常规体" pitchFamily="50" charset="-122"/>
                <a:ea typeface="造字工房力黑（非商用）常规体" pitchFamily="50" charset="-122"/>
                <a:cs typeface="+mn-ea"/>
                <a:sym typeface="Agency FB" panose="020B0503020202020204" pitchFamily="34" charset="0"/>
              </a:endParaRPr>
            </a:p>
          </p:txBody>
        </p:sp>
        <p:sp>
          <p:nvSpPr>
            <p:cNvPr id="36" name="Diamond 290"/>
            <p:cNvSpPr/>
            <p:nvPr/>
          </p:nvSpPr>
          <p:spPr>
            <a:xfrm>
              <a:off x="6792409" y="2528530"/>
              <a:ext cx="624349" cy="624349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altLang="zh-CN" sz="1600">
                  <a:solidFill>
                    <a:schemeClr val="bg1"/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Agency FB" panose="020B0503020202020204" pitchFamily="34" charset="0"/>
                </a:rPr>
                <a:t>02</a:t>
              </a:r>
              <a:endParaRPr lang="en-US" altLang="zh-CN" sz="1600">
                <a:solidFill>
                  <a:schemeClr val="bg1"/>
                </a:solidFill>
                <a:latin typeface="造字工房力黑（非商用）常规体" pitchFamily="50" charset="-122"/>
                <a:ea typeface="造字工房力黑（非商用）常规体" pitchFamily="50" charset="-122"/>
                <a:cs typeface="+mn-ea"/>
                <a:sym typeface="Agency FB" panose="020B0503020202020204" pitchFamily="34" charset="0"/>
              </a:endParaRPr>
            </a:p>
          </p:txBody>
        </p:sp>
        <p:sp>
          <p:nvSpPr>
            <p:cNvPr id="42" name="TextBox 296"/>
            <p:cNvSpPr txBox="1"/>
            <p:nvPr/>
          </p:nvSpPr>
          <p:spPr>
            <a:xfrm>
              <a:off x="7259934" y="2497971"/>
              <a:ext cx="3962574" cy="303981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Autofit/>
            </a:bodyPr>
            <a:lstStyle/>
            <a:p>
              <a:pPr algn="l"/>
              <a:r>
                <a:rPr lang="zh-CN" altLang="en-US" sz="2400" spc="600" dirty="0">
                  <a:solidFill>
                    <a:schemeClr val="accent2">
                      <a:lumMod val="100000"/>
                    </a:schemeClr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Agency FB" panose="020B0503020202020204" pitchFamily="34" charset="0"/>
                </a:rPr>
                <a:t>国内外学术研究</a:t>
              </a:r>
              <a:endParaRPr lang="zh-CN" altLang="en-US" sz="2400" spc="600" dirty="0">
                <a:solidFill>
                  <a:schemeClr val="accent2">
                    <a:lumMod val="100000"/>
                  </a:schemeClr>
                </a:solidFill>
                <a:latin typeface="造字工房力黑（非商用）常规体" pitchFamily="50" charset="-122"/>
                <a:ea typeface="造字工房力黑（非商用）常规体" pitchFamily="50" charset="-122"/>
                <a:cs typeface="+mn-ea"/>
                <a:sym typeface="Agency FB" panose="020B0503020202020204" pitchFamily="34" charset="0"/>
              </a:endParaRPr>
            </a:p>
          </p:txBody>
        </p:sp>
        <p:sp>
          <p:nvSpPr>
            <p:cNvPr id="38" name="Diamond 292"/>
            <p:cNvSpPr/>
            <p:nvPr/>
          </p:nvSpPr>
          <p:spPr>
            <a:xfrm>
              <a:off x="6792411" y="1649954"/>
              <a:ext cx="624349" cy="624349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altLang="zh-CN" sz="1600">
                  <a:solidFill>
                    <a:schemeClr val="bg1"/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Agency FB" panose="020B0503020202020204" pitchFamily="34" charset="0"/>
                </a:rPr>
                <a:t>01</a:t>
              </a:r>
              <a:endParaRPr lang="en-US" altLang="zh-CN" sz="1600">
                <a:solidFill>
                  <a:schemeClr val="bg1"/>
                </a:solidFill>
                <a:latin typeface="造字工房力黑（非商用）常规体" pitchFamily="50" charset="-122"/>
                <a:ea typeface="造字工房力黑（非商用）常规体" pitchFamily="50" charset="-122"/>
                <a:cs typeface="+mn-ea"/>
                <a:sym typeface="Agency FB" panose="020B0503020202020204" pitchFamily="34" charset="0"/>
              </a:endParaRPr>
            </a:p>
          </p:txBody>
        </p:sp>
        <p:sp>
          <p:nvSpPr>
            <p:cNvPr id="40" name="TextBox 294"/>
            <p:cNvSpPr txBox="1"/>
            <p:nvPr/>
          </p:nvSpPr>
          <p:spPr>
            <a:xfrm>
              <a:off x="7259934" y="1619395"/>
              <a:ext cx="3962574" cy="303981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Autofit/>
            </a:bodyPr>
            <a:lstStyle/>
            <a:p>
              <a:r>
                <a:rPr lang="zh-CN" altLang="en-US" sz="2400" spc="600" dirty="0">
                  <a:solidFill>
                    <a:schemeClr val="accent1">
                      <a:lumMod val="100000"/>
                    </a:schemeClr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Agency FB" panose="020B0503020202020204" pitchFamily="34" charset="0"/>
                </a:rPr>
                <a:t>研究动机与研究问题</a:t>
              </a:r>
              <a:endParaRPr lang="zh-CN" altLang="en-US" sz="2400" spc="600" dirty="0">
                <a:solidFill>
                  <a:schemeClr val="accent1">
                    <a:lumMod val="100000"/>
                  </a:schemeClr>
                </a:solidFill>
                <a:latin typeface="造字工房力黑（非商用）常规体" pitchFamily="50" charset="-122"/>
                <a:ea typeface="造字工房力黑（非商用）常规体" pitchFamily="50" charset="-122"/>
                <a:cs typeface="+mn-ea"/>
                <a:sym typeface="Agency FB" panose="020B0503020202020204" pitchFamily="34" charset="0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4769" y="477840"/>
            <a:ext cx="2174882" cy="4560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407160"/>
            <a:ext cx="8001000" cy="404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0" y="713740"/>
            <a:ext cx="12192001" cy="4737100"/>
            <a:chOff x="0" y="713740"/>
            <a:chExt cx="12192001" cy="4737100"/>
          </a:xfrm>
        </p:grpSpPr>
        <p:grpSp>
          <p:nvGrpSpPr>
            <p:cNvPr id="26" name="组合 25"/>
            <p:cNvGrpSpPr/>
            <p:nvPr/>
          </p:nvGrpSpPr>
          <p:grpSpPr>
            <a:xfrm>
              <a:off x="0" y="1407160"/>
              <a:ext cx="4064000" cy="4043680"/>
              <a:chOff x="0" y="1407160"/>
              <a:chExt cx="4064000" cy="4043680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0" y="1407160"/>
                <a:ext cx="4064000" cy="404368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127000" y="2552462"/>
                <a:ext cx="38100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4800" dirty="0">
                    <a:solidFill>
                      <a:schemeClr val="bg1"/>
                    </a:solidFill>
                    <a:latin typeface="造字工房力黑（非商用）常规体" pitchFamily="50" charset="-122"/>
                    <a:ea typeface="造字工房力黑（非商用）常规体" pitchFamily="50" charset="-122"/>
                    <a:cs typeface="+mn-ea"/>
                    <a:sym typeface="+mn-lt"/>
                  </a:rPr>
                  <a:t>研究动机与研究问题</a:t>
                </a:r>
                <a:endParaRPr lang="zh-CN" altLang="en-US" sz="4800" dirty="0">
                  <a:solidFill>
                    <a:schemeClr val="bg1"/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7564229" y="713740"/>
              <a:ext cx="4627772" cy="1386840"/>
              <a:chOff x="7564229" y="713740"/>
              <a:chExt cx="4627772" cy="1386840"/>
            </a:xfrm>
          </p:grpSpPr>
          <p:sp>
            <p:nvSpPr>
              <p:cNvPr id="29" name="任意多边形 28"/>
              <p:cNvSpPr/>
              <p:nvPr/>
            </p:nvSpPr>
            <p:spPr>
              <a:xfrm flipH="1" flipV="1">
                <a:off x="7564229" y="713740"/>
                <a:ext cx="4627771" cy="1386840"/>
              </a:xfrm>
              <a:custGeom>
                <a:avLst/>
                <a:gdLst>
                  <a:gd name="connsiteX0" fmla="*/ 0 w 7147560"/>
                  <a:gd name="connsiteY0" fmla="*/ 0 h 2814320"/>
                  <a:gd name="connsiteX1" fmla="*/ 6443980 w 7147560"/>
                  <a:gd name="connsiteY1" fmla="*/ 0 h 2814320"/>
                  <a:gd name="connsiteX2" fmla="*/ 7147560 w 7147560"/>
                  <a:gd name="connsiteY2" fmla="*/ 2814320 h 2814320"/>
                  <a:gd name="connsiteX3" fmla="*/ 0 w 7147560"/>
                  <a:gd name="connsiteY3" fmla="*/ 2814320 h 2814320"/>
                  <a:gd name="connsiteX0-1" fmla="*/ 0 w 8689506"/>
                  <a:gd name="connsiteY0-2" fmla="*/ 0 h 2814320"/>
                  <a:gd name="connsiteX1-3" fmla="*/ 6443980 w 8689506"/>
                  <a:gd name="connsiteY1-4" fmla="*/ 0 h 2814320"/>
                  <a:gd name="connsiteX2-5" fmla="*/ 8689506 w 8689506"/>
                  <a:gd name="connsiteY2-6" fmla="*/ 2814320 h 2814320"/>
                  <a:gd name="connsiteX3-7" fmla="*/ 0 w 8689506"/>
                  <a:gd name="connsiteY3-8" fmla="*/ 2814320 h 2814320"/>
                  <a:gd name="connsiteX4" fmla="*/ 0 w 8689506"/>
                  <a:gd name="connsiteY4" fmla="*/ 0 h 2814320"/>
                  <a:gd name="connsiteX0-9" fmla="*/ 0 w 9235080"/>
                  <a:gd name="connsiteY0-10" fmla="*/ 0 h 2834640"/>
                  <a:gd name="connsiteX1-11" fmla="*/ 6443980 w 9235080"/>
                  <a:gd name="connsiteY1-12" fmla="*/ 0 h 2834640"/>
                  <a:gd name="connsiteX2-13" fmla="*/ 9235080 w 9235080"/>
                  <a:gd name="connsiteY2-14" fmla="*/ 2834640 h 2834640"/>
                  <a:gd name="connsiteX3-15" fmla="*/ 0 w 9235080"/>
                  <a:gd name="connsiteY3-16" fmla="*/ 2814320 h 2834640"/>
                  <a:gd name="connsiteX4-17" fmla="*/ 0 w 9235080"/>
                  <a:gd name="connsiteY4-18" fmla="*/ 0 h 283464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17" y="connsiteY4-18"/>
                  </a:cxn>
                </a:cxnLst>
                <a:rect l="l" t="t" r="r" b="b"/>
                <a:pathLst>
                  <a:path w="9235080" h="2834640">
                    <a:moveTo>
                      <a:pt x="0" y="0"/>
                    </a:moveTo>
                    <a:lnTo>
                      <a:pt x="6443980" y="0"/>
                    </a:lnTo>
                    <a:lnTo>
                      <a:pt x="9235080" y="2834640"/>
                    </a:lnTo>
                    <a:lnTo>
                      <a:pt x="0" y="2814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+mn-lt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7712365" y="991661"/>
                <a:ext cx="447963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4000" spc="300" dirty="0">
                    <a:solidFill>
                      <a:schemeClr val="bg1"/>
                    </a:solidFill>
                    <a:latin typeface="造字工房力黑（非商用）常规体" pitchFamily="50" charset="-122"/>
                    <a:ea typeface="造字工房力黑（非商用）常规体" pitchFamily="50" charset="-122"/>
                    <a:cs typeface="+mn-ea"/>
                    <a:sym typeface="+mn-lt"/>
                  </a:rPr>
                  <a:t>PART ONE</a:t>
                </a:r>
                <a:endParaRPr lang="zh-CN" altLang="en-US" sz="4000" spc="300" dirty="0">
                  <a:solidFill>
                    <a:schemeClr val="bg1"/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8" name="文本框 27"/>
            <p:cNvSpPr txBox="1"/>
            <p:nvPr/>
          </p:nvSpPr>
          <p:spPr>
            <a:xfrm>
              <a:off x="9550399" y="3052435"/>
              <a:ext cx="2349194" cy="144655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spc="600" dirty="0">
                  <a:solidFill>
                    <a:schemeClr val="bg1"/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+mn-lt"/>
                </a:rPr>
                <a:t>01</a:t>
              </a:r>
              <a:endParaRPr lang="zh-CN" altLang="en-US" sz="8800" spc="600" dirty="0">
                <a:solidFill>
                  <a:schemeClr val="bg1"/>
                </a:solidFill>
                <a:latin typeface="造字工房力黑（非商用）常规体" pitchFamily="50" charset="-122"/>
                <a:ea typeface="造字工房力黑（非商用）常规体" pitchFamily="50" charset="-122"/>
                <a:cs typeface="+mn-ea"/>
                <a:sym typeface="+mn-lt"/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4769" y="477840"/>
            <a:ext cx="2174882" cy="4560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d4996f65-492e-4946-a57b-e9581865154c"/>
          <p:cNvGrpSpPr>
            <a:grpSpLocks noChangeAspect="1"/>
          </p:cNvGrpSpPr>
          <p:nvPr/>
        </p:nvGrpSpPr>
        <p:grpSpPr>
          <a:xfrm>
            <a:off x="803412" y="1780540"/>
            <a:ext cx="10850247" cy="4394200"/>
            <a:chOff x="803412" y="1231900"/>
            <a:chExt cx="10850247" cy="4394200"/>
          </a:xfrm>
        </p:grpSpPr>
        <p:grpSp>
          <p:nvGrpSpPr>
            <p:cNvPr id="16" name="组合 15"/>
            <p:cNvGrpSpPr/>
            <p:nvPr/>
          </p:nvGrpSpPr>
          <p:grpSpPr>
            <a:xfrm>
              <a:off x="3898899" y="1231900"/>
              <a:ext cx="4394202" cy="4394200"/>
              <a:chOff x="3898899" y="1231900"/>
              <a:chExt cx="4394202" cy="4394200"/>
            </a:xfrm>
            <a:effectLst/>
          </p:grpSpPr>
          <p:sp>
            <p:nvSpPr>
              <p:cNvPr id="32" name="ïṧḷïḓê-Rectangle 67"/>
              <p:cNvSpPr/>
              <p:nvPr/>
            </p:nvSpPr>
            <p:spPr>
              <a:xfrm>
                <a:off x="4722812" y="2062637"/>
                <a:ext cx="2746376" cy="2746375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3" name="ïṧḷïḓê-Oval 68"/>
              <p:cNvSpPr/>
              <p:nvPr/>
            </p:nvSpPr>
            <p:spPr>
              <a:xfrm>
                <a:off x="3898899" y="3978275"/>
                <a:ext cx="1647825" cy="1647825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ïṧḷïḓê-Oval 69"/>
              <p:cNvSpPr/>
              <p:nvPr/>
            </p:nvSpPr>
            <p:spPr>
              <a:xfrm>
                <a:off x="6645275" y="3978275"/>
                <a:ext cx="1647825" cy="1647825"/>
              </a:xfrm>
              <a:prstGeom prst="ellipse">
                <a:avLst/>
              </a:prstGeom>
              <a:solidFill>
                <a:schemeClr val="accent3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5" name="ïṧḷïḓê-Oval 70"/>
              <p:cNvSpPr/>
              <p:nvPr/>
            </p:nvSpPr>
            <p:spPr>
              <a:xfrm>
                <a:off x="6645276" y="1231900"/>
                <a:ext cx="1647825" cy="1647825"/>
              </a:xfrm>
              <a:prstGeom prst="ellipse">
                <a:avLst/>
              </a:prstGeom>
              <a:solidFill>
                <a:schemeClr val="accent2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6" name="ïṧḷïḓê-Oval 71"/>
              <p:cNvSpPr/>
              <p:nvPr/>
            </p:nvSpPr>
            <p:spPr>
              <a:xfrm>
                <a:off x="3898899" y="1231900"/>
                <a:ext cx="1647825" cy="1647825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ïṧḷïḓê-任意多边形: 形状 20"/>
              <p:cNvSpPr/>
              <p:nvPr/>
            </p:nvSpPr>
            <p:spPr>
              <a:xfrm>
                <a:off x="6645276" y="2055813"/>
                <a:ext cx="823912" cy="823913"/>
              </a:xfrm>
              <a:custGeom>
                <a:avLst/>
                <a:gdLst>
                  <a:gd name="connsiteX0" fmla="*/ 0 w 1371599"/>
                  <a:gd name="connsiteY0" fmla="*/ 0 h 1371600"/>
                  <a:gd name="connsiteX1" fmla="*/ 1371599 w 1371599"/>
                  <a:gd name="connsiteY1" fmla="*/ 0 h 1371600"/>
                  <a:gd name="connsiteX2" fmla="*/ 1371599 w 1371599"/>
                  <a:gd name="connsiteY2" fmla="*/ 1371600 h 1371600"/>
                  <a:gd name="connsiteX3" fmla="*/ 1231362 w 1371599"/>
                  <a:gd name="connsiteY3" fmla="*/ 1364519 h 1371600"/>
                  <a:gd name="connsiteX4" fmla="*/ 0 w 1371599"/>
                  <a:gd name="connsiteY4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1599" h="1371600">
                    <a:moveTo>
                      <a:pt x="0" y="0"/>
                    </a:moveTo>
                    <a:lnTo>
                      <a:pt x="1371599" y="0"/>
                    </a:lnTo>
                    <a:lnTo>
                      <a:pt x="1371599" y="1371600"/>
                    </a:lnTo>
                    <a:lnTo>
                      <a:pt x="1231362" y="1364519"/>
                    </a:lnTo>
                    <a:cubicBezTo>
                      <a:pt x="539724" y="1294279"/>
                      <a:pt x="0" y="710170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8" name="ïṧḷïḓê-任意多边形: 形状 21"/>
              <p:cNvSpPr/>
              <p:nvPr/>
            </p:nvSpPr>
            <p:spPr>
              <a:xfrm>
                <a:off x="6645275" y="3978275"/>
                <a:ext cx="823913" cy="823913"/>
              </a:xfrm>
              <a:custGeom>
                <a:avLst/>
                <a:gdLst>
                  <a:gd name="connsiteX0" fmla="*/ 1371600 w 1371600"/>
                  <a:gd name="connsiteY0" fmla="*/ 0 h 1371600"/>
                  <a:gd name="connsiteX1" fmla="*/ 1371600 w 1371600"/>
                  <a:gd name="connsiteY1" fmla="*/ 1371600 h 1371600"/>
                  <a:gd name="connsiteX2" fmla="*/ 0 w 1371600"/>
                  <a:gd name="connsiteY2" fmla="*/ 1371600 h 1371600"/>
                  <a:gd name="connsiteX3" fmla="*/ 1371600 w 1371600"/>
                  <a:gd name="connsiteY3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1600" h="1371600">
                    <a:moveTo>
                      <a:pt x="1371600" y="0"/>
                    </a:moveTo>
                    <a:lnTo>
                      <a:pt x="1371600" y="1371600"/>
                    </a:lnTo>
                    <a:lnTo>
                      <a:pt x="0" y="1371600"/>
                    </a:lnTo>
                    <a:cubicBezTo>
                      <a:pt x="0" y="614086"/>
                      <a:pt x="614086" y="0"/>
                      <a:pt x="137160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9" name="ïṧḷïḓê-任意多边形: 形状 22"/>
              <p:cNvSpPr/>
              <p:nvPr/>
            </p:nvSpPr>
            <p:spPr>
              <a:xfrm>
                <a:off x="4722813" y="3978275"/>
                <a:ext cx="823912" cy="823913"/>
              </a:xfrm>
              <a:custGeom>
                <a:avLst/>
                <a:gdLst>
                  <a:gd name="connsiteX0" fmla="*/ 0 w 1371599"/>
                  <a:gd name="connsiteY0" fmla="*/ 0 h 1371600"/>
                  <a:gd name="connsiteX1" fmla="*/ 140237 w 1371599"/>
                  <a:gd name="connsiteY1" fmla="*/ 7082 h 1371600"/>
                  <a:gd name="connsiteX2" fmla="*/ 1371599 w 1371599"/>
                  <a:gd name="connsiteY2" fmla="*/ 1371600 h 1371600"/>
                  <a:gd name="connsiteX3" fmla="*/ 0 w 1371599"/>
                  <a:gd name="connsiteY3" fmla="*/ 137160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1599" h="1371600">
                    <a:moveTo>
                      <a:pt x="0" y="0"/>
                    </a:moveTo>
                    <a:lnTo>
                      <a:pt x="140237" y="7082"/>
                    </a:lnTo>
                    <a:cubicBezTo>
                      <a:pt x="831875" y="77321"/>
                      <a:pt x="1371599" y="661431"/>
                      <a:pt x="1371599" y="1371600"/>
                    </a:cubicBezTo>
                    <a:lnTo>
                      <a:pt x="0" y="137160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ïṧḷïḓê-任意多边形: 形状 23"/>
              <p:cNvSpPr/>
              <p:nvPr/>
            </p:nvSpPr>
            <p:spPr>
              <a:xfrm>
                <a:off x="4722813" y="2055813"/>
                <a:ext cx="823912" cy="823913"/>
              </a:xfrm>
              <a:custGeom>
                <a:avLst/>
                <a:gdLst>
                  <a:gd name="connsiteX0" fmla="*/ 0 w 1371599"/>
                  <a:gd name="connsiteY0" fmla="*/ 0 h 1371600"/>
                  <a:gd name="connsiteX1" fmla="*/ 1371599 w 1371599"/>
                  <a:gd name="connsiteY1" fmla="*/ 0 h 1371600"/>
                  <a:gd name="connsiteX2" fmla="*/ 140237 w 1371599"/>
                  <a:gd name="connsiteY2" fmla="*/ 1364519 h 1371600"/>
                  <a:gd name="connsiteX3" fmla="*/ 0 w 1371599"/>
                  <a:gd name="connsiteY3" fmla="*/ 137160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1599" h="1371600">
                    <a:moveTo>
                      <a:pt x="0" y="0"/>
                    </a:moveTo>
                    <a:lnTo>
                      <a:pt x="1371599" y="0"/>
                    </a:lnTo>
                    <a:cubicBezTo>
                      <a:pt x="1371599" y="710170"/>
                      <a:pt x="831875" y="1294279"/>
                      <a:pt x="140237" y="1364519"/>
                    </a:cubicBezTo>
                    <a:lnTo>
                      <a:pt x="0" y="137160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1" name="ïṧḷïḓê-任意多边形: 形状 25"/>
              <p:cNvSpPr/>
              <p:nvPr/>
            </p:nvSpPr>
            <p:spPr>
              <a:xfrm>
                <a:off x="6957459" y="4332356"/>
                <a:ext cx="356833" cy="2919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618" y="14400"/>
                    </a:moveTo>
                    <a:lnTo>
                      <a:pt x="16349" y="14400"/>
                    </a:lnTo>
                    <a:cubicBezTo>
                      <a:pt x="16227" y="14820"/>
                      <a:pt x="16076" y="15221"/>
                      <a:pt x="15897" y="15600"/>
                    </a:cubicBezTo>
                    <a:lnTo>
                      <a:pt x="20618" y="15600"/>
                    </a:lnTo>
                    <a:lnTo>
                      <a:pt x="20618" y="19200"/>
                    </a:lnTo>
                    <a:cubicBezTo>
                      <a:pt x="20618" y="19862"/>
                      <a:pt x="20178" y="20400"/>
                      <a:pt x="19636" y="20400"/>
                    </a:cubicBezTo>
                    <a:lnTo>
                      <a:pt x="1964" y="20400"/>
                    </a:lnTo>
                    <a:cubicBezTo>
                      <a:pt x="1422" y="20400"/>
                      <a:pt x="982" y="19862"/>
                      <a:pt x="982" y="19200"/>
                    </a:cubicBezTo>
                    <a:lnTo>
                      <a:pt x="982" y="15600"/>
                    </a:lnTo>
                    <a:lnTo>
                      <a:pt x="5704" y="15600"/>
                    </a:lnTo>
                    <a:cubicBezTo>
                      <a:pt x="5524" y="15221"/>
                      <a:pt x="5373" y="14820"/>
                      <a:pt x="5251" y="14400"/>
                    </a:cubicBezTo>
                    <a:lnTo>
                      <a:pt x="982" y="14400"/>
                    </a:lnTo>
                    <a:lnTo>
                      <a:pt x="982" y="4800"/>
                    </a:lnTo>
                    <a:cubicBezTo>
                      <a:pt x="982" y="4138"/>
                      <a:pt x="1422" y="3600"/>
                      <a:pt x="1964" y="3600"/>
                    </a:cubicBezTo>
                    <a:lnTo>
                      <a:pt x="3927" y="3600"/>
                    </a:lnTo>
                    <a:cubicBezTo>
                      <a:pt x="5891" y="3600"/>
                      <a:pt x="5891" y="1200"/>
                      <a:pt x="7364" y="1200"/>
                    </a:cubicBezTo>
                    <a:lnTo>
                      <a:pt x="10800" y="1200"/>
                    </a:lnTo>
                    <a:lnTo>
                      <a:pt x="14236" y="1200"/>
                    </a:lnTo>
                    <a:cubicBezTo>
                      <a:pt x="15709" y="1200"/>
                      <a:pt x="15709" y="3600"/>
                      <a:pt x="17673" y="3600"/>
                    </a:cubicBezTo>
                    <a:lnTo>
                      <a:pt x="19636" y="3600"/>
                    </a:lnTo>
                    <a:cubicBezTo>
                      <a:pt x="20178" y="3600"/>
                      <a:pt x="20618" y="4138"/>
                      <a:pt x="20618" y="4800"/>
                    </a:cubicBezTo>
                    <a:cubicBezTo>
                      <a:pt x="20618" y="4800"/>
                      <a:pt x="20618" y="14400"/>
                      <a:pt x="20618" y="14400"/>
                    </a:cubicBezTo>
                    <a:close/>
                    <a:moveTo>
                      <a:pt x="19636" y="2400"/>
                    </a:moveTo>
                    <a:lnTo>
                      <a:pt x="17673" y="2400"/>
                    </a:lnTo>
                    <a:cubicBezTo>
                      <a:pt x="16200" y="2400"/>
                      <a:pt x="16200" y="0"/>
                      <a:pt x="14236" y="0"/>
                    </a:cubicBezTo>
                    <a:lnTo>
                      <a:pt x="10800" y="0"/>
                    </a:lnTo>
                    <a:lnTo>
                      <a:pt x="7364" y="0"/>
                    </a:lnTo>
                    <a:cubicBezTo>
                      <a:pt x="5400" y="0"/>
                      <a:pt x="5400" y="2400"/>
                      <a:pt x="3927" y="2400"/>
                    </a:cubicBezTo>
                    <a:lnTo>
                      <a:pt x="1964" y="2400"/>
                    </a:lnTo>
                    <a:cubicBezTo>
                      <a:pt x="879" y="2400"/>
                      <a:pt x="0" y="3475"/>
                      <a:pt x="0" y="4800"/>
                    </a:cubicBezTo>
                    <a:lnTo>
                      <a:pt x="0" y="19200"/>
                    </a:lnTo>
                    <a:cubicBezTo>
                      <a:pt x="0" y="20525"/>
                      <a:pt x="879" y="21600"/>
                      <a:pt x="1964" y="21600"/>
                    </a:cubicBezTo>
                    <a:lnTo>
                      <a:pt x="19636" y="21600"/>
                    </a:lnTo>
                    <a:cubicBezTo>
                      <a:pt x="20721" y="21600"/>
                      <a:pt x="21600" y="20525"/>
                      <a:pt x="21600" y="19200"/>
                    </a:cubicBezTo>
                    <a:lnTo>
                      <a:pt x="21600" y="4800"/>
                    </a:lnTo>
                    <a:cubicBezTo>
                      <a:pt x="21600" y="3475"/>
                      <a:pt x="20721" y="2400"/>
                      <a:pt x="19636" y="2400"/>
                    </a:cubicBezTo>
                    <a:moveTo>
                      <a:pt x="18164" y="7200"/>
                    </a:moveTo>
                    <a:cubicBezTo>
                      <a:pt x="17892" y="7200"/>
                      <a:pt x="17673" y="6932"/>
                      <a:pt x="17673" y="6600"/>
                    </a:cubicBezTo>
                    <a:cubicBezTo>
                      <a:pt x="17673" y="6269"/>
                      <a:pt x="17892" y="6000"/>
                      <a:pt x="18164" y="6000"/>
                    </a:cubicBezTo>
                    <a:cubicBezTo>
                      <a:pt x="18435" y="6000"/>
                      <a:pt x="18655" y="6269"/>
                      <a:pt x="18655" y="6600"/>
                    </a:cubicBezTo>
                    <a:cubicBezTo>
                      <a:pt x="18655" y="6932"/>
                      <a:pt x="18435" y="7200"/>
                      <a:pt x="18164" y="7200"/>
                    </a:cubicBezTo>
                    <a:moveTo>
                      <a:pt x="18164" y="4800"/>
                    </a:moveTo>
                    <a:cubicBezTo>
                      <a:pt x="17351" y="4800"/>
                      <a:pt x="16691" y="5607"/>
                      <a:pt x="16691" y="6600"/>
                    </a:cubicBezTo>
                    <a:cubicBezTo>
                      <a:pt x="16691" y="7594"/>
                      <a:pt x="17351" y="8400"/>
                      <a:pt x="18164" y="8400"/>
                    </a:cubicBezTo>
                    <a:cubicBezTo>
                      <a:pt x="18977" y="8400"/>
                      <a:pt x="19636" y="7594"/>
                      <a:pt x="19636" y="6600"/>
                    </a:cubicBezTo>
                    <a:cubicBezTo>
                      <a:pt x="19636" y="5607"/>
                      <a:pt x="18977" y="4800"/>
                      <a:pt x="18164" y="4800"/>
                    </a:cubicBezTo>
                    <a:moveTo>
                      <a:pt x="18164" y="9600"/>
                    </a:moveTo>
                    <a:cubicBezTo>
                      <a:pt x="17892" y="9600"/>
                      <a:pt x="17673" y="9869"/>
                      <a:pt x="17673" y="10200"/>
                    </a:cubicBezTo>
                    <a:cubicBezTo>
                      <a:pt x="17673" y="10532"/>
                      <a:pt x="17892" y="10800"/>
                      <a:pt x="18164" y="10800"/>
                    </a:cubicBezTo>
                    <a:cubicBezTo>
                      <a:pt x="18435" y="10800"/>
                      <a:pt x="18655" y="10532"/>
                      <a:pt x="18655" y="10200"/>
                    </a:cubicBezTo>
                    <a:cubicBezTo>
                      <a:pt x="18655" y="9869"/>
                      <a:pt x="18435" y="9600"/>
                      <a:pt x="18164" y="9600"/>
                    </a:cubicBezTo>
                    <a:moveTo>
                      <a:pt x="10800" y="16800"/>
                    </a:moveTo>
                    <a:cubicBezTo>
                      <a:pt x="8631" y="16800"/>
                      <a:pt x="6873" y="14651"/>
                      <a:pt x="6873" y="12000"/>
                    </a:cubicBezTo>
                    <a:cubicBezTo>
                      <a:pt x="6873" y="9349"/>
                      <a:pt x="8631" y="7200"/>
                      <a:pt x="10800" y="7200"/>
                    </a:cubicBezTo>
                    <a:cubicBezTo>
                      <a:pt x="12969" y="7200"/>
                      <a:pt x="14727" y="9349"/>
                      <a:pt x="14727" y="12000"/>
                    </a:cubicBezTo>
                    <a:cubicBezTo>
                      <a:pt x="14727" y="14651"/>
                      <a:pt x="12969" y="16800"/>
                      <a:pt x="10800" y="16800"/>
                    </a:cubicBezTo>
                    <a:moveTo>
                      <a:pt x="10800" y="6000"/>
                    </a:moveTo>
                    <a:cubicBezTo>
                      <a:pt x="8088" y="6000"/>
                      <a:pt x="5891" y="8687"/>
                      <a:pt x="5891" y="12000"/>
                    </a:cubicBezTo>
                    <a:cubicBezTo>
                      <a:pt x="5891" y="15314"/>
                      <a:pt x="8088" y="18000"/>
                      <a:pt x="10800" y="18000"/>
                    </a:cubicBezTo>
                    <a:cubicBezTo>
                      <a:pt x="13512" y="18000"/>
                      <a:pt x="15709" y="15314"/>
                      <a:pt x="15709" y="12000"/>
                    </a:cubicBezTo>
                    <a:cubicBezTo>
                      <a:pt x="15709" y="8687"/>
                      <a:pt x="13512" y="6000"/>
                      <a:pt x="10800" y="6000"/>
                    </a:cubicBezTo>
                    <a:moveTo>
                      <a:pt x="10800" y="14400"/>
                    </a:moveTo>
                    <a:cubicBezTo>
                      <a:pt x="9716" y="14400"/>
                      <a:pt x="8836" y="13325"/>
                      <a:pt x="8836" y="12000"/>
                    </a:cubicBezTo>
                    <a:cubicBezTo>
                      <a:pt x="8836" y="10675"/>
                      <a:pt x="9716" y="9600"/>
                      <a:pt x="10800" y="9600"/>
                    </a:cubicBezTo>
                    <a:cubicBezTo>
                      <a:pt x="11884" y="9600"/>
                      <a:pt x="12764" y="10675"/>
                      <a:pt x="12764" y="12000"/>
                    </a:cubicBezTo>
                    <a:cubicBezTo>
                      <a:pt x="12764" y="13325"/>
                      <a:pt x="11884" y="14400"/>
                      <a:pt x="10800" y="14400"/>
                    </a:cubicBezTo>
                    <a:moveTo>
                      <a:pt x="10800" y="8400"/>
                    </a:moveTo>
                    <a:cubicBezTo>
                      <a:pt x="9173" y="8400"/>
                      <a:pt x="7855" y="10012"/>
                      <a:pt x="7855" y="12000"/>
                    </a:cubicBezTo>
                    <a:cubicBezTo>
                      <a:pt x="7855" y="13988"/>
                      <a:pt x="9173" y="15600"/>
                      <a:pt x="10800" y="15600"/>
                    </a:cubicBezTo>
                    <a:cubicBezTo>
                      <a:pt x="12426" y="15600"/>
                      <a:pt x="13745" y="13988"/>
                      <a:pt x="13745" y="12000"/>
                    </a:cubicBezTo>
                    <a:cubicBezTo>
                      <a:pt x="13745" y="10012"/>
                      <a:pt x="12426" y="8400"/>
                      <a:pt x="10800" y="8400"/>
                    </a:cubicBezTo>
                    <a:moveTo>
                      <a:pt x="8345" y="3600"/>
                    </a:moveTo>
                    <a:lnTo>
                      <a:pt x="13255" y="3600"/>
                    </a:lnTo>
                    <a:cubicBezTo>
                      <a:pt x="13526" y="3600"/>
                      <a:pt x="13745" y="3332"/>
                      <a:pt x="13745" y="3000"/>
                    </a:cubicBezTo>
                    <a:cubicBezTo>
                      <a:pt x="13745" y="2669"/>
                      <a:pt x="13526" y="2400"/>
                      <a:pt x="13255" y="2400"/>
                    </a:cubicBezTo>
                    <a:lnTo>
                      <a:pt x="8345" y="2400"/>
                    </a:lnTo>
                    <a:cubicBezTo>
                      <a:pt x="8074" y="2400"/>
                      <a:pt x="7855" y="2669"/>
                      <a:pt x="7855" y="3000"/>
                    </a:cubicBezTo>
                    <a:cubicBezTo>
                      <a:pt x="7855" y="3332"/>
                      <a:pt x="8074" y="3600"/>
                      <a:pt x="8345" y="3600"/>
                    </a:cubicBezTo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2" name="ïṧḷïḓê-任意多边形: 形状 26"/>
              <p:cNvSpPr/>
              <p:nvPr/>
            </p:nvSpPr>
            <p:spPr>
              <a:xfrm>
                <a:off x="6957460" y="2263446"/>
                <a:ext cx="356833" cy="2594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10755"/>
                    </a:moveTo>
                    <a:lnTo>
                      <a:pt x="1866" y="6075"/>
                    </a:lnTo>
                    <a:lnTo>
                      <a:pt x="10800" y="1395"/>
                    </a:lnTo>
                    <a:lnTo>
                      <a:pt x="19735" y="6075"/>
                    </a:lnTo>
                    <a:cubicBezTo>
                      <a:pt x="19735" y="6075"/>
                      <a:pt x="10800" y="10755"/>
                      <a:pt x="10800" y="10755"/>
                    </a:cubicBezTo>
                    <a:close/>
                    <a:moveTo>
                      <a:pt x="18031" y="17315"/>
                    </a:moveTo>
                    <a:lnTo>
                      <a:pt x="14834" y="16216"/>
                    </a:lnTo>
                    <a:lnTo>
                      <a:pt x="14832" y="16229"/>
                    </a:lnTo>
                    <a:cubicBezTo>
                      <a:pt x="14797" y="16218"/>
                      <a:pt x="14765" y="16200"/>
                      <a:pt x="14727" y="16200"/>
                    </a:cubicBezTo>
                    <a:cubicBezTo>
                      <a:pt x="14627" y="16200"/>
                      <a:pt x="14538" y="16251"/>
                      <a:pt x="14460" y="16324"/>
                    </a:cubicBezTo>
                    <a:lnTo>
                      <a:pt x="14455" y="16313"/>
                    </a:lnTo>
                    <a:lnTo>
                      <a:pt x="10820" y="20061"/>
                    </a:lnTo>
                    <a:lnTo>
                      <a:pt x="7658" y="16334"/>
                    </a:lnTo>
                    <a:lnTo>
                      <a:pt x="7653" y="16344"/>
                    </a:lnTo>
                    <a:cubicBezTo>
                      <a:pt x="7571" y="16259"/>
                      <a:pt x="7474" y="16200"/>
                      <a:pt x="7364" y="16200"/>
                    </a:cubicBezTo>
                    <a:cubicBezTo>
                      <a:pt x="7327" y="16200"/>
                      <a:pt x="7294" y="16218"/>
                      <a:pt x="7259" y="16229"/>
                    </a:cubicBezTo>
                    <a:lnTo>
                      <a:pt x="7257" y="16216"/>
                    </a:lnTo>
                    <a:lnTo>
                      <a:pt x="4013" y="17331"/>
                    </a:lnTo>
                    <a:lnTo>
                      <a:pt x="4767" y="9035"/>
                    </a:lnTo>
                    <a:lnTo>
                      <a:pt x="10589" y="12084"/>
                    </a:lnTo>
                    <a:lnTo>
                      <a:pt x="10591" y="12080"/>
                    </a:lnTo>
                    <a:cubicBezTo>
                      <a:pt x="10655" y="12122"/>
                      <a:pt x="10724" y="12150"/>
                      <a:pt x="10800" y="12150"/>
                    </a:cubicBezTo>
                    <a:cubicBezTo>
                      <a:pt x="10876" y="12150"/>
                      <a:pt x="10946" y="12122"/>
                      <a:pt x="11009" y="12080"/>
                    </a:cubicBezTo>
                    <a:lnTo>
                      <a:pt x="11011" y="12084"/>
                    </a:lnTo>
                    <a:lnTo>
                      <a:pt x="16897" y="9001"/>
                    </a:lnTo>
                    <a:cubicBezTo>
                      <a:pt x="16897" y="9001"/>
                      <a:pt x="18031" y="17315"/>
                      <a:pt x="18031" y="17315"/>
                    </a:cubicBezTo>
                    <a:close/>
                    <a:moveTo>
                      <a:pt x="21600" y="6075"/>
                    </a:moveTo>
                    <a:cubicBezTo>
                      <a:pt x="21600" y="5806"/>
                      <a:pt x="21484" y="5579"/>
                      <a:pt x="21319" y="5470"/>
                    </a:cubicBezTo>
                    <a:lnTo>
                      <a:pt x="21320" y="5466"/>
                    </a:lnTo>
                    <a:lnTo>
                      <a:pt x="21306" y="5458"/>
                    </a:lnTo>
                    <a:cubicBezTo>
                      <a:pt x="21301" y="5455"/>
                      <a:pt x="21296" y="5453"/>
                      <a:pt x="21292" y="5451"/>
                    </a:cubicBezTo>
                    <a:lnTo>
                      <a:pt x="11011" y="66"/>
                    </a:lnTo>
                    <a:lnTo>
                      <a:pt x="11009" y="70"/>
                    </a:lnTo>
                    <a:cubicBezTo>
                      <a:pt x="10946" y="28"/>
                      <a:pt x="10876" y="0"/>
                      <a:pt x="10800" y="0"/>
                    </a:cubicBezTo>
                    <a:cubicBezTo>
                      <a:pt x="10724" y="0"/>
                      <a:pt x="10655" y="28"/>
                      <a:pt x="10591" y="70"/>
                    </a:cubicBezTo>
                    <a:lnTo>
                      <a:pt x="10589" y="66"/>
                    </a:lnTo>
                    <a:lnTo>
                      <a:pt x="309" y="5451"/>
                    </a:lnTo>
                    <a:cubicBezTo>
                      <a:pt x="304" y="5453"/>
                      <a:pt x="299" y="5455"/>
                      <a:pt x="295" y="5458"/>
                    </a:cubicBezTo>
                    <a:lnTo>
                      <a:pt x="280" y="5466"/>
                    </a:lnTo>
                    <a:lnTo>
                      <a:pt x="281" y="5470"/>
                    </a:lnTo>
                    <a:cubicBezTo>
                      <a:pt x="116" y="5579"/>
                      <a:pt x="0" y="5806"/>
                      <a:pt x="0" y="6075"/>
                    </a:cubicBezTo>
                    <a:cubicBezTo>
                      <a:pt x="0" y="6344"/>
                      <a:pt x="116" y="6571"/>
                      <a:pt x="281" y="6680"/>
                    </a:cubicBezTo>
                    <a:lnTo>
                      <a:pt x="280" y="6684"/>
                    </a:lnTo>
                    <a:lnTo>
                      <a:pt x="295" y="6692"/>
                    </a:lnTo>
                    <a:cubicBezTo>
                      <a:pt x="299" y="6695"/>
                      <a:pt x="304" y="6697"/>
                      <a:pt x="309" y="6699"/>
                    </a:cubicBezTo>
                    <a:lnTo>
                      <a:pt x="1230" y="7182"/>
                    </a:lnTo>
                    <a:lnTo>
                      <a:pt x="608" y="13603"/>
                    </a:lnTo>
                    <a:cubicBezTo>
                      <a:pt x="251" y="13805"/>
                      <a:pt x="0" y="14287"/>
                      <a:pt x="0" y="14850"/>
                    </a:cubicBezTo>
                    <a:cubicBezTo>
                      <a:pt x="0" y="15596"/>
                      <a:pt x="439" y="16200"/>
                      <a:pt x="982" y="16200"/>
                    </a:cubicBezTo>
                    <a:cubicBezTo>
                      <a:pt x="1524" y="16200"/>
                      <a:pt x="1964" y="15596"/>
                      <a:pt x="1964" y="14850"/>
                    </a:cubicBezTo>
                    <a:cubicBezTo>
                      <a:pt x="1964" y="14416"/>
                      <a:pt x="1812" y="14034"/>
                      <a:pt x="1580" y="13787"/>
                    </a:cubicBezTo>
                    <a:lnTo>
                      <a:pt x="2173" y="7676"/>
                    </a:lnTo>
                    <a:lnTo>
                      <a:pt x="3822" y="8540"/>
                    </a:lnTo>
                    <a:lnTo>
                      <a:pt x="2950" y="18135"/>
                    </a:lnTo>
                    <a:lnTo>
                      <a:pt x="2958" y="18138"/>
                    </a:lnTo>
                    <a:cubicBezTo>
                      <a:pt x="2955" y="18167"/>
                      <a:pt x="2945" y="18193"/>
                      <a:pt x="2945" y="18225"/>
                    </a:cubicBezTo>
                    <a:cubicBezTo>
                      <a:pt x="2945" y="18598"/>
                      <a:pt x="3165" y="18900"/>
                      <a:pt x="3436" y="18900"/>
                    </a:cubicBezTo>
                    <a:cubicBezTo>
                      <a:pt x="3474" y="18900"/>
                      <a:pt x="3506" y="18884"/>
                      <a:pt x="3541" y="18873"/>
                    </a:cubicBezTo>
                    <a:lnTo>
                      <a:pt x="3543" y="18884"/>
                    </a:lnTo>
                    <a:lnTo>
                      <a:pt x="7238" y="17613"/>
                    </a:lnTo>
                    <a:lnTo>
                      <a:pt x="10506" y="21465"/>
                    </a:lnTo>
                    <a:lnTo>
                      <a:pt x="10510" y="21456"/>
                    </a:lnTo>
                    <a:cubicBezTo>
                      <a:pt x="10593" y="21541"/>
                      <a:pt x="10690" y="21600"/>
                      <a:pt x="10800" y="21600"/>
                    </a:cubicBezTo>
                    <a:cubicBezTo>
                      <a:pt x="10901" y="21600"/>
                      <a:pt x="10989" y="21548"/>
                      <a:pt x="11068" y="21476"/>
                    </a:cubicBezTo>
                    <a:lnTo>
                      <a:pt x="11072" y="21487"/>
                    </a:lnTo>
                    <a:lnTo>
                      <a:pt x="14834" y="17607"/>
                    </a:lnTo>
                    <a:lnTo>
                      <a:pt x="18548" y="18884"/>
                    </a:lnTo>
                    <a:lnTo>
                      <a:pt x="18550" y="18871"/>
                    </a:lnTo>
                    <a:cubicBezTo>
                      <a:pt x="18585" y="18882"/>
                      <a:pt x="18618" y="18900"/>
                      <a:pt x="18655" y="18900"/>
                    </a:cubicBezTo>
                    <a:cubicBezTo>
                      <a:pt x="18926" y="18900"/>
                      <a:pt x="19145" y="18598"/>
                      <a:pt x="19145" y="18225"/>
                    </a:cubicBezTo>
                    <a:cubicBezTo>
                      <a:pt x="19145" y="18181"/>
                      <a:pt x="19135" y="18143"/>
                      <a:pt x="19130" y="18102"/>
                    </a:cubicBezTo>
                    <a:lnTo>
                      <a:pt x="19137" y="18100"/>
                    </a:lnTo>
                    <a:lnTo>
                      <a:pt x="17830" y="8513"/>
                    </a:lnTo>
                    <a:lnTo>
                      <a:pt x="21292" y="6699"/>
                    </a:lnTo>
                    <a:cubicBezTo>
                      <a:pt x="21296" y="6697"/>
                      <a:pt x="21301" y="6695"/>
                      <a:pt x="21306" y="6692"/>
                    </a:cubicBezTo>
                    <a:lnTo>
                      <a:pt x="21320" y="6684"/>
                    </a:lnTo>
                    <a:lnTo>
                      <a:pt x="21319" y="6680"/>
                    </a:lnTo>
                    <a:cubicBezTo>
                      <a:pt x="21484" y="6571"/>
                      <a:pt x="21600" y="6344"/>
                      <a:pt x="21600" y="6075"/>
                    </a:cubicBezTo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3" name="ïṧḷïḓê-任意多边形: 形状 27"/>
              <p:cNvSpPr/>
              <p:nvPr/>
            </p:nvSpPr>
            <p:spPr>
              <a:xfrm>
                <a:off x="4877595" y="4286393"/>
                <a:ext cx="356833" cy="3568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353" y="11229"/>
                    </a:moveTo>
                    <a:lnTo>
                      <a:pt x="20356" y="11234"/>
                    </a:lnTo>
                    <a:lnTo>
                      <a:pt x="11029" y="16143"/>
                    </a:lnTo>
                    <a:lnTo>
                      <a:pt x="11026" y="16138"/>
                    </a:lnTo>
                    <a:cubicBezTo>
                      <a:pt x="10957" y="16174"/>
                      <a:pt x="10883" y="16200"/>
                      <a:pt x="10800" y="16200"/>
                    </a:cubicBezTo>
                    <a:cubicBezTo>
                      <a:pt x="10717" y="16200"/>
                      <a:pt x="10643" y="16174"/>
                      <a:pt x="10574" y="16138"/>
                    </a:cubicBezTo>
                    <a:lnTo>
                      <a:pt x="10571" y="16143"/>
                    </a:lnTo>
                    <a:lnTo>
                      <a:pt x="1244" y="11234"/>
                    </a:lnTo>
                    <a:lnTo>
                      <a:pt x="1247" y="11229"/>
                    </a:lnTo>
                    <a:cubicBezTo>
                      <a:pt x="1091" y="11147"/>
                      <a:pt x="982" y="10988"/>
                      <a:pt x="982" y="10800"/>
                    </a:cubicBezTo>
                    <a:cubicBezTo>
                      <a:pt x="982" y="10612"/>
                      <a:pt x="1091" y="10453"/>
                      <a:pt x="1247" y="10371"/>
                    </a:cubicBezTo>
                    <a:lnTo>
                      <a:pt x="1244" y="10366"/>
                    </a:lnTo>
                    <a:lnTo>
                      <a:pt x="3562" y="9146"/>
                    </a:lnTo>
                    <a:lnTo>
                      <a:pt x="10113" y="12594"/>
                    </a:lnTo>
                    <a:lnTo>
                      <a:pt x="10117" y="12588"/>
                    </a:lnTo>
                    <a:cubicBezTo>
                      <a:pt x="10322" y="12697"/>
                      <a:pt x="10552" y="12764"/>
                      <a:pt x="10800" y="12764"/>
                    </a:cubicBezTo>
                    <a:cubicBezTo>
                      <a:pt x="11048" y="12764"/>
                      <a:pt x="11278" y="12697"/>
                      <a:pt x="11483" y="12588"/>
                    </a:cubicBezTo>
                    <a:lnTo>
                      <a:pt x="11486" y="12594"/>
                    </a:lnTo>
                    <a:lnTo>
                      <a:pt x="18038" y="9146"/>
                    </a:lnTo>
                    <a:lnTo>
                      <a:pt x="20356" y="10366"/>
                    </a:lnTo>
                    <a:lnTo>
                      <a:pt x="20353" y="10371"/>
                    </a:lnTo>
                    <a:cubicBezTo>
                      <a:pt x="20509" y="10453"/>
                      <a:pt x="20618" y="10612"/>
                      <a:pt x="20618" y="10800"/>
                    </a:cubicBezTo>
                    <a:cubicBezTo>
                      <a:pt x="20618" y="10988"/>
                      <a:pt x="20509" y="11147"/>
                      <a:pt x="20353" y="11229"/>
                    </a:cubicBezTo>
                    <a:moveTo>
                      <a:pt x="20356" y="14784"/>
                    </a:moveTo>
                    <a:lnTo>
                      <a:pt x="20353" y="14790"/>
                    </a:lnTo>
                    <a:cubicBezTo>
                      <a:pt x="20509" y="14872"/>
                      <a:pt x="20618" y="15030"/>
                      <a:pt x="20618" y="15218"/>
                    </a:cubicBezTo>
                    <a:cubicBezTo>
                      <a:pt x="20618" y="15407"/>
                      <a:pt x="20509" y="15565"/>
                      <a:pt x="20353" y="15647"/>
                    </a:cubicBezTo>
                    <a:lnTo>
                      <a:pt x="20356" y="15653"/>
                    </a:lnTo>
                    <a:lnTo>
                      <a:pt x="11029" y="20562"/>
                    </a:lnTo>
                    <a:lnTo>
                      <a:pt x="11026" y="20556"/>
                    </a:lnTo>
                    <a:cubicBezTo>
                      <a:pt x="10957" y="20592"/>
                      <a:pt x="10883" y="20618"/>
                      <a:pt x="10800" y="20618"/>
                    </a:cubicBezTo>
                    <a:cubicBezTo>
                      <a:pt x="10717" y="20618"/>
                      <a:pt x="10643" y="20592"/>
                      <a:pt x="10574" y="20556"/>
                    </a:cubicBezTo>
                    <a:lnTo>
                      <a:pt x="10571" y="20562"/>
                    </a:lnTo>
                    <a:lnTo>
                      <a:pt x="1244" y="15653"/>
                    </a:lnTo>
                    <a:lnTo>
                      <a:pt x="1247" y="15647"/>
                    </a:lnTo>
                    <a:cubicBezTo>
                      <a:pt x="1091" y="15565"/>
                      <a:pt x="982" y="15407"/>
                      <a:pt x="982" y="15218"/>
                    </a:cubicBezTo>
                    <a:cubicBezTo>
                      <a:pt x="982" y="15030"/>
                      <a:pt x="1091" y="14872"/>
                      <a:pt x="1247" y="14790"/>
                    </a:cubicBezTo>
                    <a:lnTo>
                      <a:pt x="1244" y="14784"/>
                    </a:lnTo>
                    <a:lnTo>
                      <a:pt x="3562" y="13564"/>
                    </a:lnTo>
                    <a:lnTo>
                      <a:pt x="10113" y="17012"/>
                    </a:lnTo>
                    <a:lnTo>
                      <a:pt x="10117" y="17006"/>
                    </a:lnTo>
                    <a:cubicBezTo>
                      <a:pt x="10322" y="17115"/>
                      <a:pt x="10552" y="17182"/>
                      <a:pt x="10800" y="17182"/>
                    </a:cubicBezTo>
                    <a:cubicBezTo>
                      <a:pt x="11048" y="17182"/>
                      <a:pt x="11278" y="17115"/>
                      <a:pt x="11483" y="17006"/>
                    </a:cubicBezTo>
                    <a:lnTo>
                      <a:pt x="11486" y="17012"/>
                    </a:lnTo>
                    <a:lnTo>
                      <a:pt x="18038" y="13564"/>
                    </a:lnTo>
                    <a:cubicBezTo>
                      <a:pt x="18038" y="13564"/>
                      <a:pt x="20356" y="14784"/>
                      <a:pt x="20356" y="14784"/>
                    </a:cubicBezTo>
                    <a:close/>
                    <a:moveTo>
                      <a:pt x="1244" y="6816"/>
                    </a:moveTo>
                    <a:lnTo>
                      <a:pt x="1247" y="6811"/>
                    </a:lnTo>
                    <a:cubicBezTo>
                      <a:pt x="1091" y="6728"/>
                      <a:pt x="982" y="6570"/>
                      <a:pt x="982" y="6382"/>
                    </a:cubicBezTo>
                    <a:cubicBezTo>
                      <a:pt x="982" y="6194"/>
                      <a:pt x="1091" y="6035"/>
                      <a:pt x="1247" y="5953"/>
                    </a:cubicBezTo>
                    <a:lnTo>
                      <a:pt x="1244" y="5947"/>
                    </a:lnTo>
                    <a:lnTo>
                      <a:pt x="10571" y="1038"/>
                    </a:lnTo>
                    <a:lnTo>
                      <a:pt x="10574" y="1044"/>
                    </a:lnTo>
                    <a:cubicBezTo>
                      <a:pt x="10643" y="1008"/>
                      <a:pt x="10717" y="982"/>
                      <a:pt x="10800" y="982"/>
                    </a:cubicBezTo>
                    <a:cubicBezTo>
                      <a:pt x="10883" y="982"/>
                      <a:pt x="10957" y="1008"/>
                      <a:pt x="11026" y="1044"/>
                    </a:cubicBezTo>
                    <a:lnTo>
                      <a:pt x="11029" y="1038"/>
                    </a:lnTo>
                    <a:lnTo>
                      <a:pt x="20356" y="5947"/>
                    </a:lnTo>
                    <a:lnTo>
                      <a:pt x="20353" y="5953"/>
                    </a:lnTo>
                    <a:cubicBezTo>
                      <a:pt x="20509" y="6035"/>
                      <a:pt x="20618" y="6194"/>
                      <a:pt x="20618" y="6382"/>
                    </a:cubicBezTo>
                    <a:cubicBezTo>
                      <a:pt x="20618" y="6570"/>
                      <a:pt x="20509" y="6728"/>
                      <a:pt x="20353" y="6811"/>
                    </a:cubicBezTo>
                    <a:lnTo>
                      <a:pt x="20356" y="6816"/>
                    </a:lnTo>
                    <a:lnTo>
                      <a:pt x="11029" y="11725"/>
                    </a:lnTo>
                    <a:lnTo>
                      <a:pt x="11026" y="11720"/>
                    </a:lnTo>
                    <a:cubicBezTo>
                      <a:pt x="10957" y="11756"/>
                      <a:pt x="10883" y="11782"/>
                      <a:pt x="10800" y="11782"/>
                    </a:cubicBezTo>
                    <a:cubicBezTo>
                      <a:pt x="10717" y="11782"/>
                      <a:pt x="10643" y="11756"/>
                      <a:pt x="10574" y="11720"/>
                    </a:cubicBezTo>
                    <a:lnTo>
                      <a:pt x="10571" y="11725"/>
                    </a:lnTo>
                    <a:cubicBezTo>
                      <a:pt x="10571" y="11725"/>
                      <a:pt x="1244" y="6816"/>
                      <a:pt x="1244" y="6816"/>
                    </a:cubicBezTo>
                    <a:close/>
                    <a:moveTo>
                      <a:pt x="21600" y="10800"/>
                    </a:moveTo>
                    <a:cubicBezTo>
                      <a:pt x="21600" y="10234"/>
                      <a:pt x="21278" y="9749"/>
                      <a:pt x="20810" y="9503"/>
                    </a:cubicBezTo>
                    <a:lnTo>
                      <a:pt x="20813" y="9497"/>
                    </a:lnTo>
                    <a:lnTo>
                      <a:pt x="19092" y="8591"/>
                    </a:lnTo>
                    <a:lnTo>
                      <a:pt x="20813" y="7685"/>
                    </a:lnTo>
                    <a:lnTo>
                      <a:pt x="20810" y="7679"/>
                    </a:lnTo>
                    <a:cubicBezTo>
                      <a:pt x="21278" y="7433"/>
                      <a:pt x="21600" y="6948"/>
                      <a:pt x="21600" y="6382"/>
                    </a:cubicBezTo>
                    <a:cubicBezTo>
                      <a:pt x="21600" y="5816"/>
                      <a:pt x="21278" y="5331"/>
                      <a:pt x="20810" y="5085"/>
                    </a:cubicBezTo>
                    <a:lnTo>
                      <a:pt x="20813" y="5079"/>
                    </a:lnTo>
                    <a:lnTo>
                      <a:pt x="11486" y="170"/>
                    </a:lnTo>
                    <a:lnTo>
                      <a:pt x="11483" y="175"/>
                    </a:lnTo>
                    <a:cubicBezTo>
                      <a:pt x="11278" y="67"/>
                      <a:pt x="11048" y="0"/>
                      <a:pt x="10800" y="0"/>
                    </a:cubicBezTo>
                    <a:cubicBezTo>
                      <a:pt x="10552" y="0"/>
                      <a:pt x="10322" y="67"/>
                      <a:pt x="10117" y="175"/>
                    </a:cubicBezTo>
                    <a:lnTo>
                      <a:pt x="10113" y="170"/>
                    </a:lnTo>
                    <a:lnTo>
                      <a:pt x="786" y="5079"/>
                    </a:lnTo>
                    <a:lnTo>
                      <a:pt x="790" y="5085"/>
                    </a:lnTo>
                    <a:cubicBezTo>
                      <a:pt x="322" y="5331"/>
                      <a:pt x="0" y="5816"/>
                      <a:pt x="0" y="6382"/>
                    </a:cubicBezTo>
                    <a:cubicBezTo>
                      <a:pt x="0" y="6948"/>
                      <a:pt x="322" y="7433"/>
                      <a:pt x="790" y="7679"/>
                    </a:cubicBezTo>
                    <a:lnTo>
                      <a:pt x="786" y="7685"/>
                    </a:lnTo>
                    <a:lnTo>
                      <a:pt x="2508" y="8591"/>
                    </a:lnTo>
                    <a:lnTo>
                      <a:pt x="786" y="9497"/>
                    </a:lnTo>
                    <a:lnTo>
                      <a:pt x="790" y="9503"/>
                    </a:lnTo>
                    <a:cubicBezTo>
                      <a:pt x="322" y="9749"/>
                      <a:pt x="0" y="10234"/>
                      <a:pt x="0" y="10800"/>
                    </a:cubicBezTo>
                    <a:cubicBezTo>
                      <a:pt x="0" y="11366"/>
                      <a:pt x="322" y="11851"/>
                      <a:pt x="790" y="12097"/>
                    </a:cubicBezTo>
                    <a:lnTo>
                      <a:pt x="786" y="12103"/>
                    </a:lnTo>
                    <a:lnTo>
                      <a:pt x="2508" y="13009"/>
                    </a:lnTo>
                    <a:lnTo>
                      <a:pt x="786" y="13915"/>
                    </a:lnTo>
                    <a:lnTo>
                      <a:pt x="790" y="13921"/>
                    </a:lnTo>
                    <a:cubicBezTo>
                      <a:pt x="322" y="14167"/>
                      <a:pt x="0" y="14652"/>
                      <a:pt x="0" y="15218"/>
                    </a:cubicBezTo>
                    <a:cubicBezTo>
                      <a:pt x="0" y="15784"/>
                      <a:pt x="322" y="16269"/>
                      <a:pt x="790" y="16515"/>
                    </a:cubicBezTo>
                    <a:lnTo>
                      <a:pt x="786" y="16521"/>
                    </a:lnTo>
                    <a:lnTo>
                      <a:pt x="10113" y="21430"/>
                    </a:lnTo>
                    <a:lnTo>
                      <a:pt x="10117" y="21425"/>
                    </a:lnTo>
                    <a:cubicBezTo>
                      <a:pt x="10322" y="21533"/>
                      <a:pt x="10552" y="21600"/>
                      <a:pt x="10800" y="21600"/>
                    </a:cubicBezTo>
                    <a:cubicBezTo>
                      <a:pt x="11048" y="21600"/>
                      <a:pt x="11278" y="21533"/>
                      <a:pt x="11483" y="21425"/>
                    </a:cubicBezTo>
                    <a:lnTo>
                      <a:pt x="11486" y="21430"/>
                    </a:lnTo>
                    <a:lnTo>
                      <a:pt x="20813" y="16521"/>
                    </a:lnTo>
                    <a:lnTo>
                      <a:pt x="20810" y="16515"/>
                    </a:lnTo>
                    <a:cubicBezTo>
                      <a:pt x="21278" y="16269"/>
                      <a:pt x="21600" y="15784"/>
                      <a:pt x="21600" y="15218"/>
                    </a:cubicBezTo>
                    <a:cubicBezTo>
                      <a:pt x="21600" y="14652"/>
                      <a:pt x="21278" y="14167"/>
                      <a:pt x="20810" y="13921"/>
                    </a:cubicBezTo>
                    <a:lnTo>
                      <a:pt x="20813" y="13915"/>
                    </a:lnTo>
                    <a:lnTo>
                      <a:pt x="19092" y="13009"/>
                    </a:lnTo>
                    <a:lnTo>
                      <a:pt x="20813" y="12103"/>
                    </a:lnTo>
                    <a:lnTo>
                      <a:pt x="20810" y="12097"/>
                    </a:lnTo>
                    <a:cubicBezTo>
                      <a:pt x="21278" y="11851"/>
                      <a:pt x="21600" y="11366"/>
                      <a:pt x="21600" y="10800"/>
                    </a:cubicBezTo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4" name="ïṧḷïḓê-任意多边形: 形状 28"/>
              <p:cNvSpPr/>
              <p:nvPr/>
            </p:nvSpPr>
            <p:spPr>
              <a:xfrm>
                <a:off x="4877816" y="2214782"/>
                <a:ext cx="356612" cy="3568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86" h="21600" extrusionOk="0">
                    <a:moveTo>
                      <a:pt x="11502" y="10309"/>
                    </a:moveTo>
                    <a:cubicBezTo>
                      <a:pt x="11767" y="10309"/>
                      <a:pt x="11981" y="10090"/>
                      <a:pt x="11981" y="9818"/>
                    </a:cubicBezTo>
                    <a:cubicBezTo>
                      <a:pt x="11981" y="9547"/>
                      <a:pt x="11767" y="9327"/>
                      <a:pt x="11502" y="9327"/>
                    </a:cubicBezTo>
                    <a:cubicBezTo>
                      <a:pt x="11237" y="9327"/>
                      <a:pt x="11022" y="9547"/>
                      <a:pt x="11022" y="9818"/>
                    </a:cubicBezTo>
                    <a:cubicBezTo>
                      <a:pt x="11022" y="10090"/>
                      <a:pt x="11237" y="10309"/>
                      <a:pt x="11502" y="10309"/>
                    </a:cubicBezTo>
                    <a:moveTo>
                      <a:pt x="15818" y="4909"/>
                    </a:moveTo>
                    <a:cubicBezTo>
                      <a:pt x="16083" y="4909"/>
                      <a:pt x="16297" y="5129"/>
                      <a:pt x="16297" y="5400"/>
                    </a:cubicBezTo>
                    <a:cubicBezTo>
                      <a:pt x="16297" y="5672"/>
                      <a:pt x="16083" y="5891"/>
                      <a:pt x="15818" y="5891"/>
                    </a:cubicBezTo>
                    <a:cubicBezTo>
                      <a:pt x="15553" y="5891"/>
                      <a:pt x="15338" y="5672"/>
                      <a:pt x="15338" y="5400"/>
                    </a:cubicBezTo>
                    <a:cubicBezTo>
                      <a:pt x="15338" y="5129"/>
                      <a:pt x="15553" y="4909"/>
                      <a:pt x="15818" y="4909"/>
                    </a:cubicBezTo>
                    <a:moveTo>
                      <a:pt x="15818" y="6873"/>
                    </a:moveTo>
                    <a:cubicBezTo>
                      <a:pt x="16612" y="6873"/>
                      <a:pt x="17256" y="6213"/>
                      <a:pt x="17256" y="5400"/>
                    </a:cubicBezTo>
                    <a:cubicBezTo>
                      <a:pt x="17256" y="4587"/>
                      <a:pt x="16612" y="3928"/>
                      <a:pt x="15818" y="3928"/>
                    </a:cubicBezTo>
                    <a:cubicBezTo>
                      <a:pt x="15023" y="3928"/>
                      <a:pt x="14379" y="4587"/>
                      <a:pt x="14379" y="5400"/>
                    </a:cubicBezTo>
                    <a:cubicBezTo>
                      <a:pt x="14379" y="6213"/>
                      <a:pt x="15023" y="6873"/>
                      <a:pt x="15818" y="6873"/>
                    </a:cubicBezTo>
                    <a:moveTo>
                      <a:pt x="12941" y="11782"/>
                    </a:moveTo>
                    <a:cubicBezTo>
                      <a:pt x="13206" y="11782"/>
                      <a:pt x="13420" y="11562"/>
                      <a:pt x="13420" y="11291"/>
                    </a:cubicBezTo>
                    <a:cubicBezTo>
                      <a:pt x="13420" y="11020"/>
                      <a:pt x="13206" y="10800"/>
                      <a:pt x="12941" y="10800"/>
                    </a:cubicBezTo>
                    <a:cubicBezTo>
                      <a:pt x="12675" y="10800"/>
                      <a:pt x="12461" y="11020"/>
                      <a:pt x="12461" y="11291"/>
                    </a:cubicBezTo>
                    <a:cubicBezTo>
                      <a:pt x="12461" y="11562"/>
                      <a:pt x="12675" y="11782"/>
                      <a:pt x="12941" y="11782"/>
                    </a:cubicBezTo>
                    <a:moveTo>
                      <a:pt x="10063" y="7855"/>
                    </a:moveTo>
                    <a:cubicBezTo>
                      <a:pt x="9798" y="7855"/>
                      <a:pt x="9584" y="8074"/>
                      <a:pt x="9584" y="8346"/>
                    </a:cubicBezTo>
                    <a:cubicBezTo>
                      <a:pt x="9584" y="8617"/>
                      <a:pt x="9798" y="8836"/>
                      <a:pt x="10063" y="8836"/>
                    </a:cubicBezTo>
                    <a:cubicBezTo>
                      <a:pt x="10328" y="8836"/>
                      <a:pt x="10543" y="8617"/>
                      <a:pt x="10543" y="8346"/>
                    </a:cubicBezTo>
                    <a:cubicBezTo>
                      <a:pt x="10543" y="8074"/>
                      <a:pt x="10328" y="7855"/>
                      <a:pt x="10063" y="7855"/>
                    </a:cubicBezTo>
                    <a:moveTo>
                      <a:pt x="1718" y="19842"/>
                    </a:moveTo>
                    <a:lnTo>
                      <a:pt x="3451" y="15392"/>
                    </a:lnTo>
                    <a:cubicBezTo>
                      <a:pt x="3684" y="15834"/>
                      <a:pt x="3973" y="16253"/>
                      <a:pt x="4312" y="16642"/>
                    </a:cubicBezTo>
                    <a:cubicBezTo>
                      <a:pt x="4824" y="17230"/>
                      <a:pt x="5418" y="17711"/>
                      <a:pt x="6061" y="18068"/>
                    </a:cubicBezTo>
                    <a:cubicBezTo>
                      <a:pt x="6061" y="18068"/>
                      <a:pt x="1718" y="19842"/>
                      <a:pt x="1718" y="19842"/>
                    </a:cubicBezTo>
                    <a:close/>
                    <a:moveTo>
                      <a:pt x="3717" y="12060"/>
                    </a:moveTo>
                    <a:lnTo>
                      <a:pt x="0" y="21600"/>
                    </a:lnTo>
                    <a:lnTo>
                      <a:pt x="9319" y="17795"/>
                    </a:lnTo>
                    <a:cubicBezTo>
                      <a:pt x="9153" y="17815"/>
                      <a:pt x="8987" y="17824"/>
                      <a:pt x="8822" y="17824"/>
                    </a:cubicBezTo>
                    <a:cubicBezTo>
                      <a:pt x="5971" y="17824"/>
                      <a:pt x="3389" y="15002"/>
                      <a:pt x="3717" y="12060"/>
                    </a:cubicBezTo>
                    <a:moveTo>
                      <a:pt x="16115" y="10657"/>
                    </a:moveTo>
                    <a:cubicBezTo>
                      <a:pt x="15925" y="10851"/>
                      <a:pt x="15627" y="11171"/>
                      <a:pt x="15280" y="11542"/>
                    </a:cubicBezTo>
                    <a:cubicBezTo>
                      <a:pt x="14662" y="12204"/>
                      <a:pt x="13712" y="13221"/>
                      <a:pt x="13147" y="13753"/>
                    </a:cubicBezTo>
                    <a:lnTo>
                      <a:pt x="7665" y="8141"/>
                    </a:lnTo>
                    <a:cubicBezTo>
                      <a:pt x="8185" y="7563"/>
                      <a:pt x="9179" y="6590"/>
                      <a:pt x="9825" y="5958"/>
                    </a:cubicBezTo>
                    <a:cubicBezTo>
                      <a:pt x="10188" y="5603"/>
                      <a:pt x="10500" y="5298"/>
                      <a:pt x="10690" y="5103"/>
                    </a:cubicBezTo>
                    <a:cubicBezTo>
                      <a:pt x="13284" y="2447"/>
                      <a:pt x="18271" y="993"/>
                      <a:pt x="20136" y="982"/>
                    </a:cubicBezTo>
                    <a:cubicBezTo>
                      <a:pt x="20132" y="2572"/>
                      <a:pt x="18824" y="7884"/>
                      <a:pt x="16115" y="10657"/>
                    </a:cubicBezTo>
                    <a:moveTo>
                      <a:pt x="12477" y="14563"/>
                    </a:moveTo>
                    <a:cubicBezTo>
                      <a:pt x="12127" y="15873"/>
                      <a:pt x="11665" y="17072"/>
                      <a:pt x="11154" y="18035"/>
                    </a:cubicBezTo>
                    <a:cubicBezTo>
                      <a:pt x="10943" y="17454"/>
                      <a:pt x="10642" y="16798"/>
                      <a:pt x="10214" y="16110"/>
                    </a:cubicBezTo>
                    <a:cubicBezTo>
                      <a:pt x="10035" y="15823"/>
                      <a:pt x="9728" y="15656"/>
                      <a:pt x="9405" y="15656"/>
                    </a:cubicBezTo>
                    <a:cubicBezTo>
                      <a:pt x="9329" y="15656"/>
                      <a:pt x="9252" y="15665"/>
                      <a:pt x="9176" y="15684"/>
                    </a:cubicBezTo>
                    <a:cubicBezTo>
                      <a:pt x="8990" y="15731"/>
                      <a:pt x="8799" y="15755"/>
                      <a:pt x="8610" y="15755"/>
                    </a:cubicBezTo>
                    <a:cubicBezTo>
                      <a:pt x="7905" y="15755"/>
                      <a:pt x="7217" y="15432"/>
                      <a:pt x="6621" y="14822"/>
                    </a:cubicBezTo>
                    <a:cubicBezTo>
                      <a:pt x="5861" y="14044"/>
                      <a:pt x="5561" y="13114"/>
                      <a:pt x="5779" y="12206"/>
                    </a:cubicBezTo>
                    <a:cubicBezTo>
                      <a:pt x="5877" y="11797"/>
                      <a:pt x="5709" y="11370"/>
                      <a:pt x="5363" y="11144"/>
                    </a:cubicBezTo>
                    <a:cubicBezTo>
                      <a:pt x="4690" y="10706"/>
                      <a:pt x="4050" y="10398"/>
                      <a:pt x="3482" y="10183"/>
                    </a:cubicBezTo>
                    <a:cubicBezTo>
                      <a:pt x="4423" y="9658"/>
                      <a:pt x="5594" y="9186"/>
                      <a:pt x="6874" y="8827"/>
                    </a:cubicBezTo>
                    <a:cubicBezTo>
                      <a:pt x="6900" y="8820"/>
                      <a:pt x="6921" y="8803"/>
                      <a:pt x="6946" y="8793"/>
                    </a:cubicBezTo>
                    <a:lnTo>
                      <a:pt x="12510" y="14490"/>
                    </a:lnTo>
                    <a:cubicBezTo>
                      <a:pt x="12501" y="14515"/>
                      <a:pt x="12484" y="14536"/>
                      <a:pt x="12477" y="14563"/>
                    </a:cubicBezTo>
                    <a:moveTo>
                      <a:pt x="20922" y="167"/>
                    </a:moveTo>
                    <a:cubicBezTo>
                      <a:pt x="20813" y="55"/>
                      <a:pt x="20545" y="0"/>
                      <a:pt x="20157" y="0"/>
                    </a:cubicBezTo>
                    <a:cubicBezTo>
                      <a:pt x="18131" y="0"/>
                      <a:pt x="12842" y="1511"/>
                      <a:pt x="10012" y="4409"/>
                    </a:cubicBezTo>
                    <a:cubicBezTo>
                      <a:pt x="9345" y="5092"/>
                      <a:pt x="7134" y="7175"/>
                      <a:pt x="6621" y="7880"/>
                    </a:cubicBezTo>
                    <a:cubicBezTo>
                      <a:pt x="4961" y="8346"/>
                      <a:pt x="2544" y="9277"/>
                      <a:pt x="1196" y="10657"/>
                    </a:cubicBezTo>
                    <a:cubicBezTo>
                      <a:pt x="1196" y="10657"/>
                      <a:pt x="2841" y="10663"/>
                      <a:pt x="4848" y="11972"/>
                    </a:cubicBezTo>
                    <a:cubicBezTo>
                      <a:pt x="4556" y="13190"/>
                      <a:pt x="4926" y="14475"/>
                      <a:pt x="5943" y="15516"/>
                    </a:cubicBezTo>
                    <a:cubicBezTo>
                      <a:pt x="6735" y="16327"/>
                      <a:pt x="7672" y="16737"/>
                      <a:pt x="8610" y="16737"/>
                    </a:cubicBezTo>
                    <a:cubicBezTo>
                      <a:pt x="8876" y="16737"/>
                      <a:pt x="9142" y="16704"/>
                      <a:pt x="9405" y="16637"/>
                    </a:cubicBezTo>
                    <a:cubicBezTo>
                      <a:pt x="10683" y="18692"/>
                      <a:pt x="10690" y="20376"/>
                      <a:pt x="10690" y="20376"/>
                    </a:cubicBezTo>
                    <a:cubicBezTo>
                      <a:pt x="12038" y="18996"/>
                      <a:pt x="12948" y="16521"/>
                      <a:pt x="13402" y="14822"/>
                    </a:cubicBezTo>
                    <a:cubicBezTo>
                      <a:pt x="14091" y="14297"/>
                      <a:pt x="16126" y="12034"/>
                      <a:pt x="16793" y="11351"/>
                    </a:cubicBezTo>
                    <a:cubicBezTo>
                      <a:pt x="20164" y="7900"/>
                      <a:pt x="21600" y="861"/>
                      <a:pt x="20922" y="167"/>
                    </a:cubicBezTo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5" name="ïṧḷïḓê-文本框 29"/>
              <p:cNvSpPr txBox="1"/>
              <p:nvPr/>
            </p:nvSpPr>
            <p:spPr>
              <a:xfrm>
                <a:off x="4258590" y="1612102"/>
                <a:ext cx="1288134" cy="443711"/>
              </a:xfrm>
              <a:prstGeom prst="rect">
                <a:avLst/>
              </a:prstGeom>
              <a:noFill/>
            </p:spPr>
            <p:txBody>
              <a:bodyPr wrap="none">
                <a:normAutofit lnSpcReduction="10000"/>
              </a:bodyPr>
              <a:lstStyle/>
              <a:p>
                <a:r>
                  <a:rPr lang="en-US" sz="2400" b="1">
                    <a:solidFill>
                      <a:schemeClr val="bg2"/>
                    </a:solidFill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cs typeface="+mn-ea"/>
                    <a:sym typeface="+mn-lt"/>
                  </a:rPr>
                  <a:t>01</a:t>
                </a:r>
                <a:endParaRPr lang="en-US" sz="2400" b="1">
                  <a:solidFill>
                    <a:schemeClr val="bg2"/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6" name="ïṧḷïḓê-文本框 30"/>
              <p:cNvSpPr txBox="1"/>
              <p:nvPr/>
            </p:nvSpPr>
            <p:spPr>
              <a:xfrm>
                <a:off x="6645275" y="1612102"/>
                <a:ext cx="1288134" cy="443711"/>
              </a:xfrm>
              <a:prstGeom prst="rect">
                <a:avLst/>
              </a:prstGeom>
              <a:noFill/>
            </p:spPr>
            <p:txBody>
              <a:bodyPr wrap="none">
                <a:normAutofit lnSpcReduction="10000"/>
              </a:bodyPr>
              <a:lstStyle/>
              <a:p>
                <a:pPr algn="r"/>
                <a:r>
                  <a:rPr lang="en-US" sz="2400" b="1">
                    <a:solidFill>
                      <a:schemeClr val="bg2"/>
                    </a:solidFill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cs typeface="+mn-ea"/>
                    <a:sym typeface="+mn-lt"/>
                  </a:rPr>
                  <a:t>02</a:t>
                </a:r>
                <a:endParaRPr lang="en-US" sz="2400" b="1">
                  <a:solidFill>
                    <a:schemeClr val="bg2"/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ïṧḷïḓê-文本框 31"/>
              <p:cNvSpPr txBox="1"/>
              <p:nvPr/>
            </p:nvSpPr>
            <p:spPr>
              <a:xfrm>
                <a:off x="6645274" y="4802188"/>
                <a:ext cx="1288135" cy="443711"/>
              </a:xfrm>
              <a:prstGeom prst="rect">
                <a:avLst/>
              </a:prstGeom>
              <a:noFill/>
            </p:spPr>
            <p:txBody>
              <a:bodyPr wrap="none">
                <a:normAutofit lnSpcReduction="10000"/>
              </a:bodyPr>
              <a:lstStyle/>
              <a:p>
                <a:pPr algn="r"/>
                <a:r>
                  <a:rPr lang="en-US" sz="2400" b="1">
                    <a:solidFill>
                      <a:schemeClr val="bg2"/>
                    </a:solidFill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cs typeface="+mn-ea"/>
                    <a:sym typeface="+mn-lt"/>
                  </a:rPr>
                  <a:t>03</a:t>
                </a:r>
                <a:endParaRPr lang="en-US" sz="2400" b="1">
                  <a:solidFill>
                    <a:schemeClr val="bg2"/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8" name="ïṧḷïḓê-文本框 32"/>
              <p:cNvSpPr txBox="1"/>
              <p:nvPr/>
            </p:nvSpPr>
            <p:spPr>
              <a:xfrm>
                <a:off x="4258590" y="4802188"/>
                <a:ext cx="1288134" cy="443711"/>
              </a:xfrm>
              <a:prstGeom prst="rect">
                <a:avLst/>
              </a:prstGeom>
              <a:noFill/>
            </p:spPr>
            <p:txBody>
              <a:bodyPr wrap="none">
                <a:normAutofit lnSpcReduction="10000"/>
              </a:bodyPr>
              <a:lstStyle/>
              <a:p>
                <a:r>
                  <a:rPr lang="en-US" sz="2400" b="1">
                    <a:solidFill>
                      <a:schemeClr val="bg2"/>
                    </a:solidFill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cs typeface="+mn-ea"/>
                    <a:sym typeface="+mn-lt"/>
                  </a:rPr>
                  <a:t>04</a:t>
                </a:r>
                <a:endParaRPr lang="en-US" sz="2400" b="1">
                  <a:solidFill>
                    <a:schemeClr val="bg2"/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endParaRPr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4722812" y="3028890"/>
                <a:ext cx="2746377" cy="815609"/>
                <a:chOff x="4671419" y="3002366"/>
                <a:chExt cx="2849163" cy="815609"/>
              </a:xfrm>
            </p:grpSpPr>
            <p:sp>
              <p:nvSpPr>
                <p:cNvPr id="50" name="ïṧḷïḓê-文本框 34"/>
                <p:cNvSpPr txBox="1"/>
                <p:nvPr/>
              </p:nvSpPr>
              <p:spPr>
                <a:xfrm flipH="1">
                  <a:off x="4723837" y="3002366"/>
                  <a:ext cx="2796745" cy="400110"/>
                </a:xfrm>
                <a:prstGeom prst="rect">
                  <a:avLst/>
                </a:prstGeom>
                <a:noFill/>
              </p:spPr>
              <p:txBody>
                <a:bodyPr wrap="none">
                  <a:noAutofit/>
                </a:bodyPr>
                <a:lstStyle/>
                <a:p>
                  <a:pPr algn="ctr"/>
                  <a:r>
                    <a:rPr lang="zh-CN" altLang="en-US" sz="2000" b="1" dirty="0">
                      <a:solidFill>
                        <a:schemeClr val="bg1"/>
                      </a:solidFill>
                      <a:latin typeface="锐字工房云字库细圆GBK" panose="02010604000000000000" pitchFamily="2" charset="-122"/>
                      <a:ea typeface="锐字工房云字库细圆GBK" panose="02010604000000000000" pitchFamily="2" charset="-122"/>
                      <a:cs typeface="+mn-ea"/>
                      <a:sym typeface="+mn-lt"/>
                    </a:rPr>
                    <a:t>用户、场景、任务</a:t>
                  </a:r>
                  <a:endParaRPr lang="en-US" altLang="zh-CN" sz="2000" b="1" dirty="0">
                    <a:solidFill>
                      <a:schemeClr val="bg1"/>
                    </a:solidFill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cs typeface="+mn-ea"/>
                    <a:sym typeface="+mn-lt"/>
                  </a:endParaRPr>
                </a:p>
                <a:p>
                  <a:pPr algn="ctr"/>
                  <a:r>
                    <a:rPr lang="zh-CN" altLang="en-US" sz="2000" b="1" dirty="0">
                      <a:solidFill>
                        <a:schemeClr val="bg1"/>
                      </a:solidFill>
                      <a:latin typeface="锐字工房云字库细圆GBK" panose="02010604000000000000" pitchFamily="2" charset="-122"/>
                      <a:ea typeface="锐字工房云字库细圆GBK" panose="02010604000000000000" pitchFamily="2" charset="-122"/>
                      <a:cs typeface="+mn-ea"/>
                      <a:sym typeface="+mn-lt"/>
                    </a:rPr>
                    <a:t>与现有困难</a:t>
                  </a:r>
                  <a:endParaRPr lang="zh-CN" altLang="en-US" sz="2000" b="1" dirty="0">
                    <a:solidFill>
                      <a:schemeClr val="bg1"/>
                    </a:solidFill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ïṧḷïḓê-文本框 35"/>
                <p:cNvSpPr txBox="1"/>
                <p:nvPr/>
              </p:nvSpPr>
              <p:spPr>
                <a:xfrm>
                  <a:off x="4671419" y="3356310"/>
                  <a:ext cx="284916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1000" dirty="0">
                    <a:solidFill>
                      <a:schemeClr val="bg1"/>
                    </a:solidFill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803412" y="1445731"/>
              <a:ext cx="10850247" cy="3558904"/>
              <a:chOff x="803412" y="1393787"/>
              <a:chExt cx="10850247" cy="3558904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8427666" y="1393787"/>
                <a:ext cx="3225993" cy="992191"/>
                <a:chOff x="1404723" y="1609142"/>
                <a:chExt cx="4220042" cy="992191"/>
              </a:xfrm>
            </p:grpSpPr>
            <p:sp>
              <p:nvSpPr>
                <p:cNvPr id="30" name="ïṧḷïḓê-文本框 55"/>
                <p:cNvSpPr txBox="1"/>
                <p:nvPr/>
              </p:nvSpPr>
              <p:spPr>
                <a:xfrm>
                  <a:off x="1404723" y="2093502"/>
                  <a:ext cx="4220042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Autofit/>
                </a:bodyPr>
                <a:lstStyle/>
                <a:p>
                  <a:pPr algn="ctr"/>
                  <a:r>
                    <a:rPr lang="zh-CN" altLang="zh-CN" sz="1400" dirty="0">
                      <a:ea typeface="造字工房力黑（非商用）常规体"/>
                    </a:rPr>
                    <a:t>用户需要根据自己的：</a:t>
                  </a:r>
                  <a:endParaRPr lang="zh-CN" altLang="zh-CN" sz="1400" dirty="0">
                    <a:ea typeface="造字工房力黑（非商用）常规体"/>
                  </a:endParaRPr>
                </a:p>
                <a:p>
                  <a:pPr algn="ctr"/>
                  <a:r>
                    <a:rPr lang="zh-CN" altLang="zh-CN" sz="1400" b="1" dirty="0">
                      <a:ea typeface="造字工房力黑（非商用）常规体"/>
                    </a:rPr>
                    <a:t>预算 + 使用需求 + 商品信息</a:t>
                  </a:r>
                  <a:endParaRPr lang="zh-CN" altLang="zh-CN" sz="1400" dirty="0">
                    <a:ea typeface="造字工房力黑（非商用）常规体"/>
                  </a:endParaRPr>
                </a:p>
                <a:p>
                  <a:pPr algn="ctr"/>
                  <a:r>
                    <a:rPr lang="zh-CN" altLang="zh-CN" sz="1400" dirty="0">
                      <a:ea typeface="造字工房力黑（非商用）常规体"/>
                    </a:rPr>
                    <a:t>在多个候选商品中完成比较，并最终选择更符合自身需求的商品。</a:t>
                  </a:r>
                  <a:endParaRPr lang="zh-CN" altLang="zh-CN" sz="1400" dirty="0">
                    <a:ea typeface="造字工房力黑（非商用）常规体"/>
                  </a:endParaRPr>
                </a:p>
                <a:p>
                  <a:pPr algn="r">
                    <a:lnSpc>
                      <a:spcPct val="120000"/>
                    </a:lnSpc>
                  </a:pPr>
                  <a:br>
                    <a:rPr lang="zh-CN" altLang="en-US" sz="1400" dirty="0">
                      <a:latin typeface="锐字工房云字库细圆GBK" panose="02010604000000000000" pitchFamily="2" charset="-122"/>
                      <a:ea typeface="锐字工房云字库细圆GBK" panose="02010604000000000000" pitchFamily="2" charset="-122"/>
                      <a:cs typeface="+mn-ea"/>
                      <a:sym typeface="+mn-lt"/>
                    </a:rPr>
                  </a:br>
                  <a:endParaRPr lang="zh-CN" altLang="en-US" sz="1400" dirty="0"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ïṧḷïḓê-Rectangle 66"/>
                <p:cNvSpPr/>
                <p:nvPr/>
              </p:nvSpPr>
              <p:spPr>
                <a:xfrm>
                  <a:off x="1404723" y="1609142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Autofit/>
                </a:bodyPr>
                <a:lstStyle/>
                <a:p>
                  <a:pPr algn="r"/>
                  <a:r>
                    <a:rPr lang="zh-CN" altLang="en-US" sz="2000" b="1" dirty="0">
                      <a:solidFill>
                        <a:schemeClr val="accent1"/>
                      </a:solidFill>
                      <a:latin typeface="锐字工房云字库细圆GBK" panose="02010604000000000000" pitchFamily="2" charset="-122"/>
                      <a:ea typeface="锐字工房云字库细圆GBK" panose="02010604000000000000" pitchFamily="2" charset="-122"/>
                      <a:cs typeface="+mn-ea"/>
                      <a:sym typeface="+mn-lt"/>
                    </a:rPr>
                    <a:t>用户要完成什么任务？</a:t>
                  </a:r>
                  <a:endParaRPr lang="zh-CN" altLang="en-US" sz="2000" b="1" dirty="0">
                    <a:solidFill>
                      <a:schemeClr val="accent1"/>
                    </a:solidFill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7729062" y="3917028"/>
                <a:ext cx="3924597" cy="1035663"/>
                <a:chOff x="490853" y="1412918"/>
                <a:chExt cx="5133912" cy="1035663"/>
              </a:xfrm>
            </p:grpSpPr>
            <p:sp>
              <p:nvSpPr>
                <p:cNvPr id="28" name="ïṧḷïḓê-文本框 53"/>
                <p:cNvSpPr txBox="1"/>
                <p:nvPr/>
              </p:nvSpPr>
              <p:spPr>
                <a:xfrm>
                  <a:off x="1647759" y="1940750"/>
                  <a:ext cx="3977006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zh-CN" altLang="en-US" sz="1400" dirty="0">
                      <a:latin typeface="锐字工房云字库细圆GBK" panose="02010604000000000000" pitchFamily="2" charset="-122"/>
                      <a:ea typeface="造字工房力黑（非商用）常规体"/>
                      <a:cs typeface="+mn-ea"/>
                      <a:sym typeface="+mn-lt"/>
                    </a:rPr>
                    <a:t>实例：</a:t>
                  </a:r>
                  <a:r>
                    <a:rPr lang="zh-CN" altLang="zh-CN" sz="1400" dirty="0">
                      <a:ea typeface="造字工房力黑（非商用）常规体"/>
                    </a:rPr>
                    <a:t>预算 7000 元左右，计算机专业学生，需要写代码、偶尔训练模型，</a:t>
                  </a:r>
                  <a:r>
                    <a:rPr lang="zh-CN" altLang="en-US" sz="1400" dirty="0">
                      <a:ea typeface="造字工房力黑（非商用）常规体"/>
                    </a:rPr>
                    <a:t>也</a:t>
                  </a:r>
                  <a:r>
                    <a:rPr lang="zh-CN" altLang="zh-CN" sz="1400" dirty="0">
                      <a:ea typeface="造字工房力黑（非商用）常规体"/>
                    </a:rPr>
                    <a:t>需要携带上课，希望使用 4 年。</a:t>
                  </a:r>
                  <a:br>
                    <a:rPr lang="zh-CN" altLang="en-US" sz="1400" dirty="0">
                      <a:latin typeface="锐字工房云字库细圆GBK" panose="02010604000000000000" pitchFamily="2" charset="-122"/>
                      <a:ea typeface="造字工房力黑（非商用）常规体"/>
                      <a:cs typeface="+mn-ea"/>
                      <a:sym typeface="+mn-lt"/>
                    </a:rPr>
                  </a:br>
                  <a:endParaRPr lang="zh-CN" altLang="en-US" sz="1400" dirty="0">
                    <a:latin typeface="锐字工房云字库细圆GBK" panose="02010604000000000000" pitchFamily="2" charset="-122"/>
                    <a:ea typeface="造字工房力黑（非商用）常规体"/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ïṧḷïḓê-Rectangle 64"/>
                <p:cNvSpPr/>
                <p:nvPr/>
              </p:nvSpPr>
              <p:spPr>
                <a:xfrm>
                  <a:off x="490853" y="1412918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Autofit/>
                </a:bodyPr>
                <a:lstStyle/>
                <a:p>
                  <a:pPr algn="r"/>
                  <a:r>
                    <a:rPr lang="zh-CN" altLang="en-US" sz="2000" b="1" dirty="0">
                      <a:solidFill>
                        <a:schemeClr val="accent2"/>
                      </a:solidFill>
                      <a:latin typeface="锐字工房云字库细圆GBK" panose="02010604000000000000" pitchFamily="2" charset="-122"/>
                      <a:ea typeface="锐字工房云字库细圆GBK" panose="02010604000000000000" pitchFamily="2" charset="-122"/>
                      <a:cs typeface="+mn-ea"/>
                      <a:sym typeface="+mn-lt"/>
                    </a:rPr>
                    <a:t>预设场景</a:t>
                  </a:r>
                  <a:endParaRPr lang="zh-CN" altLang="en-US" sz="2000" b="1" dirty="0">
                    <a:solidFill>
                      <a:schemeClr val="accent2"/>
                    </a:solidFill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20" name="ïṧḷïḓê-Straight Connector 55"/>
              <p:cNvCxnSpPr/>
              <p:nvPr/>
            </p:nvCxnSpPr>
            <p:spPr>
              <a:xfrm>
                <a:off x="8692738" y="3377057"/>
                <a:ext cx="2695850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组合 20"/>
              <p:cNvGrpSpPr/>
              <p:nvPr/>
            </p:nvGrpSpPr>
            <p:grpSpPr>
              <a:xfrm>
                <a:off x="880552" y="1396691"/>
                <a:ext cx="3664150" cy="974577"/>
                <a:chOff x="1270464" y="1612046"/>
                <a:chExt cx="4793212" cy="974577"/>
              </a:xfrm>
            </p:grpSpPr>
            <p:sp>
              <p:nvSpPr>
                <p:cNvPr id="26" name="ïṧḷïḓê-文本框 47"/>
                <p:cNvSpPr txBox="1"/>
                <p:nvPr/>
              </p:nvSpPr>
              <p:spPr>
                <a:xfrm>
                  <a:off x="1270464" y="207879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Autofit/>
                </a:bodyPr>
                <a:lstStyle/>
                <a:p>
                  <a:pPr algn="ctr">
                    <a:lnSpc>
                      <a:spcPts val="1680"/>
                    </a:lnSpc>
                  </a:pPr>
                  <a:r>
                    <a:rPr lang="zh-CN" altLang="zh-CN" sz="1400" dirty="0">
                      <a:latin typeface="造字工房力黑（非商用）常规体"/>
                      <a:ea typeface="造字工房力黑（非商用）常规体"/>
                    </a:rPr>
                    <a:t>有明确预算和使用需求，但缺乏专业商品知识的普通消费者。</a:t>
                  </a:r>
                  <a:br>
                    <a:rPr lang="zh-CN" altLang="en-US" sz="1400" dirty="0">
                      <a:latin typeface="锐字工房云字库细圆GBK" panose="02010604000000000000" pitchFamily="2" charset="-122"/>
                      <a:ea typeface="锐字工房云字库细圆GBK" panose="02010604000000000000" pitchFamily="2" charset="-122"/>
                      <a:cs typeface="+mn-ea"/>
                      <a:sym typeface="+mn-lt"/>
                    </a:rPr>
                  </a:br>
                  <a:endParaRPr lang="zh-CN" altLang="en-US" sz="1400" dirty="0"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ïṧḷïḓê-Rectangle 62"/>
                <p:cNvSpPr/>
                <p:nvPr/>
              </p:nvSpPr>
              <p:spPr>
                <a:xfrm>
                  <a:off x="2302481" y="1612046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Autofit/>
                </a:bodyPr>
                <a:lstStyle/>
                <a:p>
                  <a:r>
                    <a:rPr lang="zh-CN" altLang="en-US" sz="2000" b="1" dirty="0">
                      <a:solidFill>
                        <a:schemeClr val="accent1"/>
                      </a:solidFill>
                      <a:latin typeface="锐字工房云字库细圆GBK" panose="02010604000000000000" pitchFamily="2" charset="-122"/>
                      <a:ea typeface="锐字工房云字库细圆GBK" panose="02010604000000000000" pitchFamily="2" charset="-122"/>
                      <a:cs typeface="+mn-ea"/>
                      <a:sym typeface="+mn-lt"/>
                    </a:rPr>
                    <a:t>用户是谁？</a:t>
                  </a:r>
                  <a:endParaRPr lang="zh-CN" altLang="en-US" sz="2000" b="1" dirty="0">
                    <a:solidFill>
                      <a:schemeClr val="accent1"/>
                    </a:solidFill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184901" y="3965562"/>
                <a:ext cx="2893843" cy="981924"/>
                <a:chOff x="1668595" y="1461452"/>
                <a:chExt cx="3785544" cy="981924"/>
              </a:xfrm>
            </p:grpSpPr>
            <p:sp>
              <p:nvSpPr>
                <p:cNvPr id="24" name="ïṧḷïḓê-文本框 45"/>
                <p:cNvSpPr txBox="1"/>
                <p:nvPr/>
              </p:nvSpPr>
              <p:spPr>
                <a:xfrm>
                  <a:off x="1692945" y="1935545"/>
                  <a:ext cx="3761194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Autofit/>
                </a:bodyPr>
                <a:lstStyle/>
                <a:p>
                  <a:pPr marL="285750" indent="-285750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zh-CN" altLang="en-US" sz="1400" dirty="0">
                      <a:latin typeface="锐字工房云字库细圆GBK" panose="02010604000000000000" pitchFamily="2" charset="-122"/>
                      <a:ea typeface="锐字工房云字库细圆GBK" panose="02010604000000000000" pitchFamily="2" charset="-122"/>
                      <a:cs typeface="+mn-ea"/>
                      <a:sym typeface="+mn-lt"/>
                    </a:rPr>
                    <a:t>信息分散</a:t>
                  </a:r>
                  <a:endParaRPr lang="en-US" altLang="zh-CN" sz="1400" dirty="0"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cs typeface="+mn-ea"/>
                    <a:sym typeface="+mn-lt"/>
                  </a:endParaRPr>
                </a:p>
                <a:p>
                  <a:pPr marL="285750" indent="-285750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zh-CN" altLang="en-US" sz="1400" dirty="0">
                      <a:latin typeface="锐字工房云字库细圆GBK" panose="02010604000000000000" pitchFamily="2" charset="-122"/>
                      <a:ea typeface="锐字工房云字库细圆GBK" panose="02010604000000000000" pitchFamily="2" charset="-122"/>
                      <a:cs typeface="+mn-ea"/>
                      <a:sym typeface="+mn-lt"/>
                    </a:rPr>
                    <a:t>多目标之间存在冲突</a:t>
                  </a:r>
                  <a:endParaRPr lang="en-US" altLang="zh-CN" sz="1400" dirty="0"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cs typeface="+mn-ea"/>
                    <a:sym typeface="+mn-lt"/>
                  </a:endParaRPr>
                </a:p>
                <a:p>
                  <a:pPr marL="285750" indent="-285750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1400" dirty="0">
                      <a:latin typeface="锐字工房云字库细圆GBK" panose="02010604000000000000" pitchFamily="2" charset="-122"/>
                      <a:ea typeface="锐字工房云字库细圆GBK" panose="02010604000000000000" pitchFamily="2" charset="-122"/>
                      <a:cs typeface="+mn-ea"/>
                      <a:sym typeface="+mn-lt"/>
                    </a:rPr>
                    <a:t>AI</a:t>
                  </a:r>
                  <a:r>
                    <a:rPr lang="zh-CN" altLang="en-US" sz="1400" dirty="0">
                      <a:latin typeface="锐字工房云字库细圆GBK" panose="02010604000000000000" pitchFamily="2" charset="-122"/>
                      <a:ea typeface="锐字工房云字库细圆GBK" panose="02010604000000000000" pitchFamily="2" charset="-122"/>
                      <a:cs typeface="+mn-ea"/>
                      <a:sym typeface="+mn-lt"/>
                    </a:rPr>
                    <a:t>推荐过程缺乏透明度</a:t>
                  </a:r>
                  <a:endParaRPr lang="en-US" altLang="zh-CN" sz="1400" dirty="0"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cs typeface="+mn-ea"/>
                    <a:sym typeface="+mn-lt"/>
                  </a:endParaRPr>
                </a:p>
                <a:p>
                  <a:pPr marL="285750" indent="-285750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zh-CN" altLang="en-US" sz="1400" dirty="0">
                      <a:latin typeface="锐字工房云字库细圆GBK" panose="02010604000000000000" pitchFamily="2" charset="-122"/>
                      <a:ea typeface="锐字工房云字库细圆GBK" panose="02010604000000000000" pitchFamily="2" charset="-122"/>
                      <a:cs typeface="+mn-ea"/>
                      <a:sym typeface="+mn-lt"/>
                    </a:rPr>
                    <a:t>用户很难发现</a:t>
                  </a:r>
                  <a:r>
                    <a:rPr lang="en-US" altLang="zh-CN" sz="1400" dirty="0">
                      <a:latin typeface="锐字工房云字库细圆GBK" panose="02010604000000000000" pitchFamily="2" charset="-122"/>
                      <a:ea typeface="锐字工房云字库细圆GBK" panose="02010604000000000000" pitchFamily="2" charset="-122"/>
                      <a:cs typeface="+mn-ea"/>
                      <a:sym typeface="+mn-lt"/>
                    </a:rPr>
                    <a:t>AI</a:t>
                  </a:r>
                  <a:r>
                    <a:rPr lang="zh-CN" altLang="en-US" sz="1400" dirty="0">
                      <a:latin typeface="锐字工房云字库细圆GBK" panose="02010604000000000000" pitchFamily="2" charset="-122"/>
                      <a:ea typeface="锐字工房云字库细圆GBK" panose="02010604000000000000" pitchFamily="2" charset="-122"/>
                      <a:cs typeface="+mn-ea"/>
                      <a:sym typeface="+mn-lt"/>
                    </a:rPr>
                    <a:t>的错误</a:t>
                  </a:r>
                  <a:br>
                    <a:rPr lang="zh-CN" altLang="en-US" sz="1400" dirty="0">
                      <a:latin typeface="锐字工房云字库细圆GBK" panose="02010604000000000000" pitchFamily="2" charset="-122"/>
                      <a:ea typeface="锐字工房云字库细圆GBK" panose="02010604000000000000" pitchFamily="2" charset="-122"/>
                      <a:cs typeface="+mn-ea"/>
                      <a:sym typeface="+mn-lt"/>
                    </a:rPr>
                  </a:br>
                  <a:endParaRPr lang="zh-CN" altLang="en-US" sz="1400" dirty="0"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ïṧḷïḓê-Rectangle 60"/>
                <p:cNvSpPr/>
                <p:nvPr/>
              </p:nvSpPr>
              <p:spPr>
                <a:xfrm>
                  <a:off x="1668595" y="1461452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Autofit/>
                </a:bodyPr>
                <a:lstStyle/>
                <a:p>
                  <a:r>
                    <a:rPr lang="zh-CN" altLang="en-US" sz="2000" b="1" dirty="0">
                      <a:solidFill>
                        <a:schemeClr val="accent2"/>
                      </a:solidFill>
                      <a:latin typeface="锐字工房云字库细圆GBK" panose="02010604000000000000" pitchFamily="2" charset="-122"/>
                      <a:ea typeface="锐字工房云字库细圆GBK" panose="02010604000000000000" pitchFamily="2" charset="-122"/>
                      <a:cs typeface="+mn-ea"/>
                      <a:sym typeface="+mn-lt"/>
                    </a:rPr>
                    <a:t>目前有什么困难？</a:t>
                  </a:r>
                  <a:endParaRPr lang="zh-CN" altLang="en-US" sz="2000" b="1" dirty="0">
                    <a:solidFill>
                      <a:schemeClr val="accent2"/>
                    </a:solidFill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23" name="ïṧḷïḓê-Straight Connector 58"/>
              <p:cNvCxnSpPr/>
              <p:nvPr/>
            </p:nvCxnSpPr>
            <p:spPr>
              <a:xfrm>
                <a:off x="803412" y="3377057"/>
                <a:ext cx="2695850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2" name="组合 51"/>
          <p:cNvGrpSpPr/>
          <p:nvPr/>
        </p:nvGrpSpPr>
        <p:grpSpPr>
          <a:xfrm>
            <a:off x="0" y="160089"/>
            <a:ext cx="11940390" cy="707886"/>
            <a:chOff x="0" y="160089"/>
            <a:chExt cx="11940390" cy="707886"/>
          </a:xfrm>
        </p:grpSpPr>
        <p:grpSp>
          <p:nvGrpSpPr>
            <p:cNvPr id="53" name="组合 52"/>
            <p:cNvGrpSpPr/>
            <p:nvPr/>
          </p:nvGrpSpPr>
          <p:grpSpPr>
            <a:xfrm>
              <a:off x="0" y="160089"/>
              <a:ext cx="9666514" cy="707886"/>
              <a:chOff x="0" y="252452"/>
              <a:chExt cx="9666514" cy="707886"/>
            </a:xfrm>
          </p:grpSpPr>
          <p:grpSp>
            <p:nvGrpSpPr>
              <p:cNvPr id="55" name="组合 54"/>
              <p:cNvGrpSpPr/>
              <p:nvPr/>
            </p:nvGrpSpPr>
            <p:grpSpPr>
              <a:xfrm>
                <a:off x="0" y="294640"/>
                <a:ext cx="880552" cy="375920"/>
                <a:chOff x="0" y="294640"/>
                <a:chExt cx="1094740" cy="467360"/>
              </a:xfrm>
              <a:solidFill>
                <a:srgbClr val="EE8A10"/>
              </a:solidFill>
            </p:grpSpPr>
            <p:sp>
              <p:nvSpPr>
                <p:cNvPr id="64" name="燕尾形 11"/>
                <p:cNvSpPr/>
                <p:nvPr/>
              </p:nvSpPr>
              <p:spPr>
                <a:xfrm>
                  <a:off x="416560" y="294640"/>
                  <a:ext cx="375920" cy="467360"/>
                </a:xfrm>
                <a:prstGeom prst="chevron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" name="燕尾形 12"/>
                <p:cNvSpPr/>
                <p:nvPr/>
              </p:nvSpPr>
              <p:spPr>
                <a:xfrm>
                  <a:off x="718820" y="294640"/>
                  <a:ext cx="375920" cy="467360"/>
                </a:xfrm>
                <a:prstGeom prst="chevron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6" name="五边形 13"/>
                <p:cNvSpPr/>
                <p:nvPr/>
              </p:nvSpPr>
              <p:spPr>
                <a:xfrm>
                  <a:off x="0" y="294640"/>
                  <a:ext cx="518160" cy="467360"/>
                </a:xfrm>
                <a:prstGeom prst="homePlat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6" name="文本框 55"/>
              <p:cNvSpPr txBox="1"/>
              <p:nvPr/>
            </p:nvSpPr>
            <p:spPr>
              <a:xfrm>
                <a:off x="903242" y="252452"/>
                <a:ext cx="278444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 spc="600" dirty="0"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</a:rPr>
                  <a:t>用户、场景、任务与现有困难</a:t>
                </a:r>
                <a:endParaRPr lang="zh-CN" altLang="en-US" sz="2000" b="1" spc="600" dirty="0">
                  <a:latin typeface="锐字工房云字库细圆GBK" panose="02010604000000000000" pitchFamily="2" charset="-122"/>
                  <a:ea typeface="锐字工房云字库细圆GBK" panose="02010604000000000000" pitchFamily="2" charset="-122"/>
                </a:endParaRPr>
              </a:p>
            </p:txBody>
          </p:sp>
          <p:grpSp>
            <p:nvGrpSpPr>
              <p:cNvPr id="57" name="组合 56"/>
              <p:cNvGrpSpPr/>
              <p:nvPr/>
            </p:nvGrpSpPr>
            <p:grpSpPr>
              <a:xfrm>
                <a:off x="3356076" y="408709"/>
                <a:ext cx="1749361" cy="147782"/>
                <a:chOff x="635462" y="775854"/>
                <a:chExt cx="1749361" cy="147782"/>
              </a:xfrm>
              <a:solidFill>
                <a:srgbClr val="EE8A10"/>
              </a:solidFill>
            </p:grpSpPr>
            <p:sp>
              <p:nvSpPr>
                <p:cNvPr id="59" name="椭圆 58"/>
                <p:cNvSpPr/>
                <p:nvPr/>
              </p:nvSpPr>
              <p:spPr>
                <a:xfrm>
                  <a:off x="635462" y="775855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>
                  <a:off x="1036319" y="775854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椭圆 60"/>
                <p:cNvSpPr/>
                <p:nvPr/>
              </p:nvSpPr>
              <p:spPr>
                <a:xfrm>
                  <a:off x="1437176" y="775855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1836185" y="775854"/>
                  <a:ext cx="147781" cy="147781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2237042" y="775854"/>
                  <a:ext cx="147781" cy="147781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58" name="直接连接符 57"/>
              <p:cNvCxnSpPr/>
              <p:nvPr/>
            </p:nvCxnSpPr>
            <p:spPr>
              <a:xfrm>
                <a:off x="5212080" y="477520"/>
                <a:ext cx="4454434" cy="0"/>
              </a:xfrm>
              <a:prstGeom prst="line">
                <a:avLst/>
              </a:prstGeom>
              <a:ln w="317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65508" y="161931"/>
              <a:ext cx="2174882" cy="45606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578181" y="890740"/>
            <a:ext cx="11292387" cy="5392336"/>
            <a:chOff x="274571" y="890740"/>
            <a:chExt cx="11292387" cy="5392336"/>
          </a:xfrm>
        </p:grpSpPr>
        <p:sp>
          <p:nvSpPr>
            <p:cNvPr id="16" name="íšļïḋè"/>
            <p:cNvSpPr/>
            <p:nvPr/>
          </p:nvSpPr>
          <p:spPr>
            <a:xfrm>
              <a:off x="7356837" y="890740"/>
              <a:ext cx="4210121" cy="4811568"/>
            </a:xfrm>
            <a:custGeom>
              <a:avLst/>
              <a:gdLst>
                <a:gd name="connsiteX0" fmla="*/ 2323145 w 9034462"/>
                <a:gd name="connsiteY0" fmla="*/ 9034461 h 10325100"/>
                <a:gd name="connsiteX1" fmla="*/ 2323145 w 9034462"/>
                <a:gd name="connsiteY1" fmla="*/ 9163525 h 10325100"/>
                <a:gd name="connsiteX2" fmla="*/ 2968465 w 9034462"/>
                <a:gd name="connsiteY2" fmla="*/ 9550719 h 10325100"/>
                <a:gd name="connsiteX3" fmla="*/ 2968465 w 9034462"/>
                <a:gd name="connsiteY3" fmla="*/ 9421655 h 10325100"/>
                <a:gd name="connsiteX4" fmla="*/ 6453186 w 9034462"/>
                <a:gd name="connsiteY4" fmla="*/ 6195061 h 10325100"/>
                <a:gd name="connsiteX5" fmla="*/ 5936930 w 9034462"/>
                <a:gd name="connsiteY5" fmla="*/ 6840378 h 10325100"/>
                <a:gd name="connsiteX6" fmla="*/ 6065994 w 9034462"/>
                <a:gd name="connsiteY6" fmla="*/ 6840378 h 10325100"/>
                <a:gd name="connsiteX7" fmla="*/ 6582250 w 9034462"/>
                <a:gd name="connsiteY7" fmla="*/ 6195061 h 10325100"/>
                <a:gd name="connsiteX8" fmla="*/ 387192 w 9034462"/>
                <a:gd name="connsiteY8" fmla="*/ 5807870 h 10325100"/>
                <a:gd name="connsiteX9" fmla="*/ 387192 w 9034462"/>
                <a:gd name="connsiteY9" fmla="*/ 6840378 h 10325100"/>
                <a:gd name="connsiteX10" fmla="*/ 516253 w 9034462"/>
                <a:gd name="connsiteY10" fmla="*/ 6840378 h 10325100"/>
                <a:gd name="connsiteX11" fmla="*/ 516253 w 9034462"/>
                <a:gd name="connsiteY11" fmla="*/ 5807870 h 10325100"/>
                <a:gd name="connsiteX12" fmla="*/ 8001954 w 9034462"/>
                <a:gd name="connsiteY12" fmla="*/ 5291614 h 10325100"/>
                <a:gd name="connsiteX13" fmla="*/ 7872890 w 9034462"/>
                <a:gd name="connsiteY13" fmla="*/ 5678806 h 10325100"/>
                <a:gd name="connsiteX14" fmla="*/ 7872890 w 9034462"/>
                <a:gd name="connsiteY14" fmla="*/ 5936933 h 10325100"/>
                <a:gd name="connsiteX15" fmla="*/ 8001954 w 9034462"/>
                <a:gd name="connsiteY15" fmla="*/ 5936933 h 10325100"/>
                <a:gd name="connsiteX16" fmla="*/ 8131014 w 9034462"/>
                <a:gd name="connsiteY16" fmla="*/ 5420678 h 10325100"/>
                <a:gd name="connsiteX17" fmla="*/ 8131014 w 9034462"/>
                <a:gd name="connsiteY17" fmla="*/ 5291614 h 10325100"/>
                <a:gd name="connsiteX18" fmla="*/ 7098506 w 9034462"/>
                <a:gd name="connsiteY18" fmla="*/ 4775359 h 10325100"/>
                <a:gd name="connsiteX19" fmla="*/ 6582250 w 9034462"/>
                <a:gd name="connsiteY19" fmla="*/ 6065997 h 10325100"/>
                <a:gd name="connsiteX20" fmla="*/ 6969442 w 9034462"/>
                <a:gd name="connsiteY20" fmla="*/ 6065997 h 10325100"/>
                <a:gd name="connsiteX21" fmla="*/ 7356634 w 9034462"/>
                <a:gd name="connsiteY21" fmla="*/ 5162550 h 10325100"/>
                <a:gd name="connsiteX22" fmla="*/ 7227570 w 9034462"/>
                <a:gd name="connsiteY22" fmla="*/ 4775359 h 10325100"/>
                <a:gd name="connsiteX23" fmla="*/ 2065018 w 9034462"/>
                <a:gd name="connsiteY23" fmla="*/ 4000977 h 10325100"/>
                <a:gd name="connsiteX24" fmla="*/ 1677828 w 9034462"/>
                <a:gd name="connsiteY24" fmla="*/ 4775359 h 10325100"/>
                <a:gd name="connsiteX25" fmla="*/ 1806892 w 9034462"/>
                <a:gd name="connsiteY25" fmla="*/ 4775359 h 10325100"/>
                <a:gd name="connsiteX26" fmla="*/ 2194081 w 9034462"/>
                <a:gd name="connsiteY26" fmla="*/ 4000977 h 10325100"/>
                <a:gd name="connsiteX27" fmla="*/ 8647270 w 9034462"/>
                <a:gd name="connsiteY27" fmla="*/ 2581275 h 10325100"/>
                <a:gd name="connsiteX28" fmla="*/ 8905398 w 9034462"/>
                <a:gd name="connsiteY28" fmla="*/ 2581275 h 10325100"/>
                <a:gd name="connsiteX29" fmla="*/ 8905398 w 9034462"/>
                <a:gd name="connsiteY29" fmla="*/ 3226594 h 10325100"/>
                <a:gd name="connsiteX30" fmla="*/ 8647270 w 9034462"/>
                <a:gd name="connsiteY30" fmla="*/ 3226594 h 10325100"/>
                <a:gd name="connsiteX31" fmla="*/ 5420674 w 9034462"/>
                <a:gd name="connsiteY31" fmla="*/ 1935956 h 10325100"/>
                <a:gd name="connsiteX32" fmla="*/ 4904422 w 9034462"/>
                <a:gd name="connsiteY32" fmla="*/ 2194084 h 10325100"/>
                <a:gd name="connsiteX33" fmla="*/ 4775358 w 9034462"/>
                <a:gd name="connsiteY33" fmla="*/ 2065020 h 10325100"/>
                <a:gd name="connsiteX34" fmla="*/ 4775358 w 9034462"/>
                <a:gd name="connsiteY34" fmla="*/ 2194084 h 10325100"/>
                <a:gd name="connsiteX35" fmla="*/ 4904422 w 9034462"/>
                <a:gd name="connsiteY35" fmla="*/ 2323148 h 10325100"/>
                <a:gd name="connsiteX36" fmla="*/ 4000974 w 9034462"/>
                <a:gd name="connsiteY36" fmla="*/ 3097531 h 10325100"/>
                <a:gd name="connsiteX37" fmla="*/ 1935954 w 9034462"/>
                <a:gd name="connsiteY37" fmla="*/ 6711314 h 10325100"/>
                <a:gd name="connsiteX38" fmla="*/ 3097529 w 9034462"/>
                <a:gd name="connsiteY38" fmla="*/ 8518208 h 10325100"/>
                <a:gd name="connsiteX39" fmla="*/ 3226593 w 9034462"/>
                <a:gd name="connsiteY39" fmla="*/ 8518208 h 10325100"/>
                <a:gd name="connsiteX40" fmla="*/ 6453186 w 9034462"/>
                <a:gd name="connsiteY40" fmla="*/ 5549742 h 10325100"/>
                <a:gd name="connsiteX41" fmla="*/ 7098506 w 9034462"/>
                <a:gd name="connsiteY41" fmla="*/ 3484724 h 10325100"/>
                <a:gd name="connsiteX42" fmla="*/ 7098506 w 9034462"/>
                <a:gd name="connsiteY42" fmla="*/ 2452211 h 10325100"/>
                <a:gd name="connsiteX43" fmla="*/ 5807866 w 9034462"/>
                <a:gd name="connsiteY43" fmla="*/ 1935956 h 10325100"/>
                <a:gd name="connsiteX44" fmla="*/ 5678802 w 9034462"/>
                <a:gd name="connsiteY44" fmla="*/ 1935956 h 10325100"/>
                <a:gd name="connsiteX45" fmla="*/ 5549738 w 9034462"/>
                <a:gd name="connsiteY45" fmla="*/ 2065020 h 10325100"/>
                <a:gd name="connsiteX46" fmla="*/ 5420674 w 9034462"/>
                <a:gd name="connsiteY46" fmla="*/ 2065020 h 10325100"/>
                <a:gd name="connsiteX47" fmla="*/ 5549738 w 9034462"/>
                <a:gd name="connsiteY47" fmla="*/ 0 h 10325100"/>
                <a:gd name="connsiteX48" fmla="*/ 8389142 w 9034462"/>
                <a:gd name="connsiteY48" fmla="*/ 903445 h 10325100"/>
                <a:gd name="connsiteX49" fmla="*/ 8260078 w 9034462"/>
                <a:gd name="connsiteY49" fmla="*/ 1032509 h 10325100"/>
                <a:gd name="connsiteX50" fmla="*/ 8260078 w 9034462"/>
                <a:gd name="connsiteY50" fmla="*/ 1161573 h 10325100"/>
                <a:gd name="connsiteX51" fmla="*/ 8776334 w 9034462"/>
                <a:gd name="connsiteY51" fmla="*/ 1935956 h 10325100"/>
                <a:gd name="connsiteX52" fmla="*/ 8518206 w 9034462"/>
                <a:gd name="connsiteY52" fmla="*/ 1935956 h 10325100"/>
                <a:gd name="connsiteX53" fmla="*/ 8389142 w 9034462"/>
                <a:gd name="connsiteY53" fmla="*/ 1806894 h 10325100"/>
                <a:gd name="connsiteX54" fmla="*/ 8260078 w 9034462"/>
                <a:gd name="connsiteY54" fmla="*/ 1806894 h 10325100"/>
                <a:gd name="connsiteX55" fmla="*/ 8647270 w 9034462"/>
                <a:gd name="connsiteY55" fmla="*/ 4646295 h 10325100"/>
                <a:gd name="connsiteX56" fmla="*/ 8776334 w 9034462"/>
                <a:gd name="connsiteY56" fmla="*/ 4646295 h 10325100"/>
                <a:gd name="connsiteX57" fmla="*/ 9034462 w 9034462"/>
                <a:gd name="connsiteY57" fmla="*/ 4000977 h 10325100"/>
                <a:gd name="connsiteX58" fmla="*/ 9034462 w 9034462"/>
                <a:gd name="connsiteY58" fmla="*/ 4517231 h 10325100"/>
                <a:gd name="connsiteX59" fmla="*/ 7743826 w 9034462"/>
                <a:gd name="connsiteY59" fmla="*/ 7872889 h 10325100"/>
                <a:gd name="connsiteX60" fmla="*/ 7872890 w 9034462"/>
                <a:gd name="connsiteY60" fmla="*/ 7872889 h 10325100"/>
                <a:gd name="connsiteX61" fmla="*/ 5162550 w 9034462"/>
                <a:gd name="connsiteY61" fmla="*/ 10196036 h 10325100"/>
                <a:gd name="connsiteX62" fmla="*/ 4517230 w 9034462"/>
                <a:gd name="connsiteY62" fmla="*/ 10325100 h 10325100"/>
                <a:gd name="connsiteX63" fmla="*/ 4388166 w 9034462"/>
                <a:gd name="connsiteY63" fmla="*/ 10325100 h 10325100"/>
                <a:gd name="connsiteX64" fmla="*/ 516253 w 9034462"/>
                <a:gd name="connsiteY64" fmla="*/ 7872889 h 10325100"/>
                <a:gd name="connsiteX65" fmla="*/ 0 w 9034462"/>
                <a:gd name="connsiteY65" fmla="*/ 7098506 h 10325100"/>
                <a:gd name="connsiteX66" fmla="*/ 129064 w 9034462"/>
                <a:gd name="connsiteY66" fmla="*/ 6969442 h 10325100"/>
                <a:gd name="connsiteX67" fmla="*/ 0 w 9034462"/>
                <a:gd name="connsiteY67" fmla="*/ 6065997 h 10325100"/>
                <a:gd name="connsiteX68" fmla="*/ 0 w 9034462"/>
                <a:gd name="connsiteY68" fmla="*/ 5807870 h 10325100"/>
                <a:gd name="connsiteX69" fmla="*/ 2065018 w 9034462"/>
                <a:gd name="connsiteY69" fmla="*/ 2065020 h 10325100"/>
                <a:gd name="connsiteX70" fmla="*/ 2065018 w 9034462"/>
                <a:gd name="connsiteY70" fmla="*/ 2194084 h 10325100"/>
                <a:gd name="connsiteX71" fmla="*/ 516253 w 9034462"/>
                <a:gd name="connsiteY71" fmla="*/ 5033486 h 10325100"/>
                <a:gd name="connsiteX72" fmla="*/ 516253 w 9034462"/>
                <a:gd name="connsiteY72" fmla="*/ 5162550 h 10325100"/>
                <a:gd name="connsiteX73" fmla="*/ 645317 w 9034462"/>
                <a:gd name="connsiteY73" fmla="*/ 5162550 h 10325100"/>
                <a:gd name="connsiteX74" fmla="*/ 4130038 w 9034462"/>
                <a:gd name="connsiteY74" fmla="*/ 387192 h 10325100"/>
                <a:gd name="connsiteX75" fmla="*/ 3226593 w 9034462"/>
                <a:gd name="connsiteY75" fmla="*/ 903445 h 10325100"/>
                <a:gd name="connsiteX76" fmla="*/ 3097529 w 9034462"/>
                <a:gd name="connsiteY76" fmla="*/ 903445 h 10325100"/>
                <a:gd name="connsiteX77" fmla="*/ 5549738 w 9034462"/>
                <a:gd name="connsiteY77" fmla="*/ 0 h 1032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9034462" h="10325100">
                  <a:moveTo>
                    <a:pt x="2323145" y="9034461"/>
                  </a:moveTo>
                  <a:lnTo>
                    <a:pt x="2323145" y="9163525"/>
                  </a:lnTo>
                  <a:lnTo>
                    <a:pt x="2968465" y="9550719"/>
                  </a:lnTo>
                  <a:lnTo>
                    <a:pt x="2968465" y="9421655"/>
                  </a:lnTo>
                  <a:close/>
                  <a:moveTo>
                    <a:pt x="6453186" y="6195061"/>
                  </a:moveTo>
                  <a:lnTo>
                    <a:pt x="5936930" y="6840378"/>
                  </a:lnTo>
                  <a:lnTo>
                    <a:pt x="6065994" y="6840378"/>
                  </a:lnTo>
                  <a:lnTo>
                    <a:pt x="6582250" y="6195061"/>
                  </a:lnTo>
                  <a:close/>
                  <a:moveTo>
                    <a:pt x="387192" y="5807870"/>
                  </a:moveTo>
                  <a:lnTo>
                    <a:pt x="387192" y="6840378"/>
                  </a:lnTo>
                  <a:lnTo>
                    <a:pt x="516253" y="6840378"/>
                  </a:lnTo>
                  <a:lnTo>
                    <a:pt x="516253" y="5807870"/>
                  </a:lnTo>
                  <a:close/>
                  <a:moveTo>
                    <a:pt x="8001954" y="5291614"/>
                  </a:moveTo>
                  <a:lnTo>
                    <a:pt x="7872890" y="5678806"/>
                  </a:lnTo>
                  <a:lnTo>
                    <a:pt x="7872890" y="5936933"/>
                  </a:lnTo>
                  <a:lnTo>
                    <a:pt x="8001954" y="5936933"/>
                  </a:lnTo>
                  <a:lnTo>
                    <a:pt x="8131014" y="5420678"/>
                  </a:lnTo>
                  <a:lnTo>
                    <a:pt x="8131014" y="5291614"/>
                  </a:lnTo>
                  <a:close/>
                  <a:moveTo>
                    <a:pt x="7098506" y="4775359"/>
                  </a:moveTo>
                  <a:lnTo>
                    <a:pt x="6582250" y="6065997"/>
                  </a:lnTo>
                  <a:lnTo>
                    <a:pt x="6969442" y="6065997"/>
                  </a:lnTo>
                  <a:lnTo>
                    <a:pt x="7356634" y="5162550"/>
                  </a:lnTo>
                  <a:lnTo>
                    <a:pt x="7227570" y="4775359"/>
                  </a:lnTo>
                  <a:close/>
                  <a:moveTo>
                    <a:pt x="2065018" y="4000977"/>
                  </a:moveTo>
                  <a:lnTo>
                    <a:pt x="1677828" y="4775359"/>
                  </a:lnTo>
                  <a:lnTo>
                    <a:pt x="1806892" y="4775359"/>
                  </a:lnTo>
                  <a:lnTo>
                    <a:pt x="2194081" y="4000977"/>
                  </a:lnTo>
                  <a:close/>
                  <a:moveTo>
                    <a:pt x="8647270" y="2581275"/>
                  </a:moveTo>
                  <a:lnTo>
                    <a:pt x="8905398" y="2581275"/>
                  </a:lnTo>
                  <a:lnTo>
                    <a:pt x="8905398" y="3226594"/>
                  </a:lnTo>
                  <a:lnTo>
                    <a:pt x="8647270" y="3226594"/>
                  </a:lnTo>
                  <a:close/>
                  <a:moveTo>
                    <a:pt x="5420674" y="1935956"/>
                  </a:moveTo>
                  <a:lnTo>
                    <a:pt x="4904422" y="2194084"/>
                  </a:lnTo>
                  <a:lnTo>
                    <a:pt x="4775358" y="2065020"/>
                  </a:lnTo>
                  <a:lnTo>
                    <a:pt x="4775358" y="2194084"/>
                  </a:lnTo>
                  <a:lnTo>
                    <a:pt x="4904422" y="2323148"/>
                  </a:lnTo>
                  <a:lnTo>
                    <a:pt x="4000974" y="3097531"/>
                  </a:lnTo>
                  <a:cubicBezTo>
                    <a:pt x="3287329" y="3097531"/>
                    <a:pt x="2598989" y="4302127"/>
                    <a:pt x="1935954" y="6711314"/>
                  </a:cubicBezTo>
                  <a:cubicBezTo>
                    <a:pt x="1935954" y="7399654"/>
                    <a:pt x="2323145" y="8001952"/>
                    <a:pt x="3097529" y="8518208"/>
                  </a:cubicBezTo>
                  <a:lnTo>
                    <a:pt x="3226593" y="8518208"/>
                  </a:lnTo>
                  <a:cubicBezTo>
                    <a:pt x="4167998" y="8518208"/>
                    <a:pt x="5243530" y="7528718"/>
                    <a:pt x="6453186" y="5549742"/>
                  </a:cubicBezTo>
                  <a:cubicBezTo>
                    <a:pt x="6883398" y="4608336"/>
                    <a:pt x="7098506" y="3919995"/>
                    <a:pt x="7098506" y="3484724"/>
                  </a:cubicBezTo>
                  <a:lnTo>
                    <a:pt x="7098506" y="2452211"/>
                  </a:lnTo>
                  <a:cubicBezTo>
                    <a:pt x="7098506" y="2214329"/>
                    <a:pt x="6668290" y="2042244"/>
                    <a:pt x="5807866" y="1935956"/>
                  </a:cubicBezTo>
                  <a:lnTo>
                    <a:pt x="5678802" y="1935956"/>
                  </a:lnTo>
                  <a:lnTo>
                    <a:pt x="5549738" y="2065020"/>
                  </a:lnTo>
                  <a:lnTo>
                    <a:pt x="5420674" y="2065020"/>
                  </a:lnTo>
                  <a:close/>
                  <a:moveTo>
                    <a:pt x="5549738" y="0"/>
                  </a:moveTo>
                  <a:cubicBezTo>
                    <a:pt x="6562002" y="0"/>
                    <a:pt x="7508474" y="301149"/>
                    <a:pt x="8389142" y="903445"/>
                  </a:cubicBezTo>
                  <a:lnTo>
                    <a:pt x="8260078" y="1032509"/>
                  </a:lnTo>
                  <a:lnTo>
                    <a:pt x="8260078" y="1161573"/>
                  </a:lnTo>
                  <a:lnTo>
                    <a:pt x="8776334" y="1935956"/>
                  </a:lnTo>
                  <a:lnTo>
                    <a:pt x="8518206" y="1935956"/>
                  </a:lnTo>
                  <a:lnTo>
                    <a:pt x="8389142" y="1806894"/>
                  </a:lnTo>
                  <a:lnTo>
                    <a:pt x="8260078" y="1806894"/>
                  </a:lnTo>
                  <a:lnTo>
                    <a:pt x="8647270" y="4646295"/>
                  </a:lnTo>
                  <a:lnTo>
                    <a:pt x="8776334" y="4646295"/>
                  </a:lnTo>
                  <a:cubicBezTo>
                    <a:pt x="8776334" y="4216082"/>
                    <a:pt x="8862378" y="4000977"/>
                    <a:pt x="9034462" y="4000977"/>
                  </a:cubicBezTo>
                  <a:lnTo>
                    <a:pt x="9034462" y="4517231"/>
                  </a:lnTo>
                  <a:cubicBezTo>
                    <a:pt x="9034462" y="5003118"/>
                    <a:pt x="8604250" y="6121671"/>
                    <a:pt x="7743826" y="7872889"/>
                  </a:cubicBezTo>
                  <a:lnTo>
                    <a:pt x="7872890" y="7872889"/>
                  </a:lnTo>
                  <a:cubicBezTo>
                    <a:pt x="7265530" y="8708007"/>
                    <a:pt x="6362082" y="9482390"/>
                    <a:pt x="5162550" y="10196036"/>
                  </a:cubicBezTo>
                  <a:lnTo>
                    <a:pt x="4517230" y="10325100"/>
                  </a:lnTo>
                  <a:lnTo>
                    <a:pt x="4388166" y="10325100"/>
                  </a:lnTo>
                  <a:cubicBezTo>
                    <a:pt x="2343391" y="10325100"/>
                    <a:pt x="1052754" y="9507696"/>
                    <a:pt x="516253" y="7872889"/>
                  </a:cubicBezTo>
                  <a:lnTo>
                    <a:pt x="0" y="7098506"/>
                  </a:lnTo>
                  <a:lnTo>
                    <a:pt x="129064" y="6969442"/>
                  </a:lnTo>
                  <a:lnTo>
                    <a:pt x="0" y="6065997"/>
                  </a:lnTo>
                  <a:lnTo>
                    <a:pt x="0" y="5807870"/>
                  </a:lnTo>
                  <a:cubicBezTo>
                    <a:pt x="0" y="5094223"/>
                    <a:pt x="688341" y="3846608"/>
                    <a:pt x="2065018" y="2065020"/>
                  </a:cubicBezTo>
                  <a:lnTo>
                    <a:pt x="2065018" y="2194084"/>
                  </a:lnTo>
                  <a:cubicBezTo>
                    <a:pt x="1432353" y="3044386"/>
                    <a:pt x="916098" y="3990855"/>
                    <a:pt x="516253" y="5033486"/>
                  </a:cubicBezTo>
                  <a:lnTo>
                    <a:pt x="516253" y="5162550"/>
                  </a:lnTo>
                  <a:lnTo>
                    <a:pt x="645317" y="5162550"/>
                  </a:lnTo>
                  <a:cubicBezTo>
                    <a:pt x="959119" y="3902282"/>
                    <a:pt x="2120694" y="2310495"/>
                    <a:pt x="4130038" y="387192"/>
                  </a:cubicBezTo>
                  <a:lnTo>
                    <a:pt x="3226593" y="903445"/>
                  </a:lnTo>
                  <a:lnTo>
                    <a:pt x="3097529" y="903445"/>
                  </a:lnTo>
                  <a:cubicBezTo>
                    <a:pt x="3097529" y="508663"/>
                    <a:pt x="3914934" y="207514"/>
                    <a:pt x="5549738" y="0"/>
                  </a:cubicBez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w="38100" cap="flat" cmpd="sng" algn="ctr">
              <a:noFill/>
              <a:prstDash val="solid"/>
              <a:miter lim="800000"/>
            </a:ln>
            <a:effectLst>
              <a:outerShdw dist="38100" dir="8100000" sx="101000" sy="101000" algn="tr" rotWithShape="0">
                <a:schemeClr val="tx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锐字工房云字库细圆GBK" panose="02010604000000000000" pitchFamily="2" charset="-122"/>
                <a:ea typeface="锐字工房云字库细圆GBK" panose="02010604000000000000" pitchFamily="2" charset="-122"/>
                <a:sym typeface="Segoe Script" panose="030B0504020000000003" pitchFamily="66" charset="0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274571" y="890740"/>
              <a:ext cx="6881817" cy="5392336"/>
              <a:chOff x="323293" y="974646"/>
              <a:chExt cx="6881817" cy="5392336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431955" y="974646"/>
                <a:ext cx="61401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b="1" spc="600" dirty="0">
                    <a:solidFill>
                      <a:schemeClr val="accent2">
                        <a:lumMod val="50000"/>
                      </a:schemeClr>
                    </a:solidFill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sym typeface="Segoe Script" panose="030B0504020000000003" pitchFamily="66" charset="0"/>
                  </a:rPr>
                  <a:t>复杂购买决策需要多智能体</a:t>
                </a:r>
                <a:endParaRPr lang="zh-CN" altLang="en-US" sz="3200" b="1" spc="600" dirty="0">
                  <a:solidFill>
                    <a:schemeClr val="accent2">
                      <a:lumMod val="50000"/>
                    </a:schemeClr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sym typeface="Segoe Script" panose="030B0504020000000003" pitchFamily="66" charset="0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382542" y="1717048"/>
                <a:ext cx="6822568" cy="3742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sz="1600" dirty="0">
                    <a:solidFill>
                      <a:schemeClr val="accent3">
                        <a:lumMod val="50000"/>
                      </a:schemeClr>
                    </a:solidFill>
                    <a:ea typeface="造字工房力黑（非商用）常规体"/>
                  </a:rPr>
                  <a:t>在电脑、手机等高</a:t>
                </a:r>
                <a:r>
                  <a:rPr lang="zh-CN" altLang="zh-CN" sz="1600" dirty="0">
                    <a:solidFill>
                      <a:schemeClr val="accent3">
                        <a:lumMod val="50000"/>
                      </a:schemeClr>
                    </a:solidFill>
                    <a:latin typeface="造字工房力黑（非商用）常规体"/>
                    <a:ea typeface="造字工房力黑（非商用）常规体"/>
                  </a:rPr>
                  <a:t>信息量商品的购买过程中，用户往往需要同时考虑：</a:t>
                </a:r>
                <a:endParaRPr lang="zh-CN" altLang="zh-CN" sz="1600" dirty="0">
                  <a:solidFill>
                    <a:schemeClr val="accent3">
                      <a:lumMod val="50000"/>
                    </a:schemeClr>
                  </a:solidFill>
                  <a:latin typeface="造字工房力黑（非商用）常规体"/>
                  <a:ea typeface="造字工房力黑（非商用）常规体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zh-CN" sz="1600" dirty="0">
                    <a:solidFill>
                      <a:schemeClr val="accent3">
                        <a:lumMod val="50000"/>
                      </a:schemeClr>
                    </a:solidFill>
                    <a:latin typeface="造字工房力黑（非商用）常规体"/>
                    <a:ea typeface="造字工房力黑（非商用）常规体"/>
                  </a:rPr>
                  <a:t>价格、性能、使用需求、口碑、售后、潜在风险等多个因素。</a:t>
                </a:r>
                <a:endParaRPr lang="zh-CN" altLang="zh-CN" sz="1600" dirty="0">
                  <a:solidFill>
                    <a:schemeClr val="accent3">
                      <a:lumMod val="50000"/>
                    </a:schemeClr>
                  </a:solidFill>
                  <a:latin typeface="造字工房力黑（非商用）常规体"/>
                  <a:ea typeface="造字工房力黑（非商用）常规体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zh-CN" sz="1600" dirty="0">
                    <a:solidFill>
                      <a:schemeClr val="accent3">
                        <a:lumMod val="50000"/>
                      </a:schemeClr>
                    </a:solidFill>
                    <a:latin typeface="造字工房力黑（非商用）常规体"/>
                    <a:ea typeface="造字工房力黑（非商用）常规体"/>
                  </a:rPr>
                  <a:t>现有 AI 助手虽然可以快速生成购买建议，但通常</a:t>
                </a:r>
                <a:r>
                  <a:rPr lang="zh-CN" altLang="en-US" sz="1600" dirty="0">
                    <a:solidFill>
                      <a:schemeClr val="accent3">
                        <a:lumMod val="50000"/>
                      </a:schemeClr>
                    </a:solidFill>
                    <a:latin typeface="造字工房力黑（非商用）常规体"/>
                    <a:ea typeface="造字工房力黑（非商用）常规体"/>
                  </a:rPr>
                  <a:t>只能根据客户所选择的主要考虑因素给出商品排序</a:t>
                </a:r>
                <a:r>
                  <a:rPr lang="zh-CN" altLang="zh-CN" sz="1600" dirty="0">
                    <a:solidFill>
                      <a:schemeClr val="accent3">
                        <a:lumMod val="50000"/>
                      </a:schemeClr>
                    </a:solidFill>
                    <a:latin typeface="造字工房力黑（非商用）常规体"/>
                    <a:ea typeface="造字工房力黑（非商用）常规体"/>
                  </a:rPr>
                  <a:t>，用户很难</a:t>
                </a:r>
                <a:r>
                  <a:rPr lang="zh-CN" altLang="en-US" sz="1600" dirty="0">
                    <a:solidFill>
                      <a:schemeClr val="accent3">
                        <a:lumMod val="50000"/>
                      </a:schemeClr>
                    </a:solidFill>
                    <a:latin typeface="造字工房力黑（非商用）常规体"/>
                    <a:ea typeface="造字工房力黑（非商用）常规体"/>
                  </a:rPr>
                  <a:t>同时</a:t>
                </a:r>
                <a:r>
                  <a:rPr lang="zh-CN" altLang="zh-CN" sz="1600" dirty="0">
                    <a:solidFill>
                      <a:schemeClr val="accent3">
                        <a:lumMod val="50000"/>
                      </a:schemeClr>
                    </a:solidFill>
                    <a:latin typeface="造字工房力黑（非商用）常规体"/>
                    <a:ea typeface="造字工房力黑（非商用）常规体"/>
                  </a:rPr>
                  <a:t>知道：</a:t>
                </a:r>
                <a:endParaRPr lang="en-US" altLang="zh-CN" sz="1600" dirty="0">
                  <a:solidFill>
                    <a:schemeClr val="accent3">
                      <a:lumMod val="50000"/>
                    </a:schemeClr>
                  </a:solidFill>
                  <a:latin typeface="造字工房力黑（非商用）常规体"/>
                  <a:ea typeface="造字工房力黑（非商用）常规体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zh-CN" sz="1600" dirty="0">
                  <a:solidFill>
                    <a:schemeClr val="accent3">
                      <a:lumMod val="50000"/>
                    </a:schemeClr>
                  </a:solidFill>
                  <a:latin typeface="造字工房力黑（非商用）常规体"/>
                  <a:ea typeface="造字工房力黑（非商用）常规体"/>
                </a:endParaRP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solidFill>
                      <a:schemeClr val="accent3">
                        <a:lumMod val="50000"/>
                      </a:schemeClr>
                    </a:solidFill>
                    <a:latin typeface="造字工房力黑（非商用）常规体"/>
                    <a:ea typeface="造字工房力黑（非商用）常规体"/>
                  </a:rPr>
                  <a:t>这个商品是同类中最便宜的吗</a:t>
                </a:r>
                <a:r>
                  <a:rPr lang="zh-CN" altLang="zh-CN" sz="1600" dirty="0">
                    <a:solidFill>
                      <a:schemeClr val="accent3">
                        <a:lumMod val="50000"/>
                      </a:schemeClr>
                    </a:solidFill>
                    <a:latin typeface="造字工房力黑（非商用）常规体"/>
                    <a:ea typeface="造字工房力黑（非商用）常规体"/>
                  </a:rPr>
                  <a:t>； </a:t>
                </a:r>
                <a:endParaRPr lang="zh-CN" altLang="zh-CN" sz="1600" dirty="0">
                  <a:solidFill>
                    <a:schemeClr val="accent3">
                      <a:lumMod val="50000"/>
                    </a:schemeClr>
                  </a:solidFill>
                  <a:latin typeface="造字工房力黑（非商用）常规体"/>
                  <a:ea typeface="造字工房力黑（非商用）常规体"/>
                </a:endParaRP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solidFill>
                      <a:schemeClr val="accent3">
                        <a:lumMod val="50000"/>
                      </a:schemeClr>
                    </a:solidFill>
                    <a:latin typeface="造字工房力黑（非商用）常规体"/>
                    <a:ea typeface="造字工房力黑（非商用）常规体"/>
                  </a:rPr>
                  <a:t>此商品的好评率多少</a:t>
                </a:r>
                <a:r>
                  <a:rPr lang="zh-CN" altLang="zh-CN" sz="1600" dirty="0">
                    <a:solidFill>
                      <a:schemeClr val="accent3">
                        <a:lumMod val="50000"/>
                      </a:schemeClr>
                    </a:solidFill>
                    <a:latin typeface="造字工房力黑（非商用）常规体"/>
                    <a:ea typeface="造字工房力黑（非商用）常规体"/>
                  </a:rPr>
                  <a:t>； </a:t>
                </a:r>
                <a:endParaRPr lang="zh-CN" altLang="zh-CN" sz="1600" dirty="0">
                  <a:solidFill>
                    <a:schemeClr val="accent3">
                      <a:lumMod val="50000"/>
                    </a:schemeClr>
                  </a:solidFill>
                  <a:latin typeface="造字工房力黑（非商用）常规体"/>
                  <a:ea typeface="造字工房力黑（非商用）常规体"/>
                </a:endParaRP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solidFill>
                      <a:schemeClr val="accent3">
                        <a:lumMod val="50000"/>
                      </a:schemeClr>
                    </a:solidFill>
                    <a:latin typeface="造字工房力黑（非商用）常规体"/>
                    <a:ea typeface="造字工房力黑（非商用）常规体"/>
                  </a:rPr>
                  <a:t>该商品商家是否包售后；</a:t>
                </a:r>
                <a:endParaRPr lang="en-US" altLang="zh-CN" sz="1600" dirty="0">
                  <a:solidFill>
                    <a:schemeClr val="accent3">
                      <a:lumMod val="50000"/>
                    </a:schemeClr>
                  </a:solidFill>
                  <a:latin typeface="造字工房力黑（非商用）常规体"/>
                  <a:ea typeface="造字工房力黑（非商用）常规体"/>
                </a:endParaRP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solidFill>
                      <a:schemeClr val="accent3">
                        <a:lumMod val="50000"/>
                      </a:schemeClr>
                    </a:solidFill>
                    <a:latin typeface="造字工房力黑（非商用）常规体"/>
                    <a:ea typeface="造字工房力黑（非商用）常规体"/>
                  </a:rPr>
                  <a:t>该商品质量如何；</a:t>
                </a:r>
                <a:endParaRPr lang="zh-CN" altLang="zh-CN" sz="1600" dirty="0">
                  <a:solidFill>
                    <a:schemeClr val="accent3">
                      <a:lumMod val="50000"/>
                    </a:schemeClr>
                  </a:solidFill>
                  <a:latin typeface="造字工房力黑（非商用）常规体"/>
                  <a:ea typeface="造字工房力黑（非商用）常规体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600" spc="600" dirty="0">
                  <a:solidFill>
                    <a:schemeClr val="accent3">
                      <a:lumMod val="50000"/>
                    </a:schemeClr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sym typeface="Segoe Script" panose="030B0504020000000003" pitchFamily="66" charset="0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323293" y="5205446"/>
                <a:ext cx="6344897" cy="1161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accent3">
                        <a:lumMod val="50000"/>
                      </a:schemeClr>
                    </a:solidFill>
                    <a:ea typeface="造字工房力黑（非商用）常规体"/>
                  </a:rPr>
                  <a:t>而采用</a:t>
                </a:r>
                <a:r>
                  <a:rPr lang="zh-CN" altLang="zh-CN" sz="1600" dirty="0">
                    <a:solidFill>
                      <a:schemeClr val="accent3">
                        <a:lumMod val="50000"/>
                      </a:schemeClr>
                    </a:solidFill>
                    <a:ea typeface="造字工房力黑（非商用）常规体"/>
                  </a:rPr>
                  <a:t>多智能体系统可以把复杂任务拆分给不同角色，例如：</a:t>
                </a:r>
                <a:endParaRPr lang="zh-CN" altLang="zh-CN" sz="1600" dirty="0">
                  <a:solidFill>
                    <a:schemeClr val="accent3">
                      <a:lumMod val="50000"/>
                    </a:schemeClr>
                  </a:solidFill>
                  <a:ea typeface="造字工房力黑（非商用）常规体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zh-CN" sz="1600" b="1" dirty="0">
                    <a:solidFill>
                      <a:schemeClr val="accent3">
                        <a:lumMod val="50000"/>
                      </a:schemeClr>
                    </a:solidFill>
                    <a:ea typeface="造字工房力黑（非商用）常规体"/>
                  </a:rPr>
                  <a:t>搜索 Agent、性能 Agent、价格 Agent、风险 Agent、主控 Agent</a:t>
                </a:r>
                <a:endParaRPr lang="zh-CN" altLang="zh-CN" sz="1600" dirty="0">
                  <a:solidFill>
                    <a:schemeClr val="accent3">
                      <a:lumMod val="50000"/>
                    </a:schemeClr>
                  </a:solidFill>
                  <a:ea typeface="造字工房力黑（非商用）常规体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zh-CN" sz="1600" dirty="0">
                    <a:solidFill>
                      <a:schemeClr val="accent3">
                        <a:lumMod val="50000"/>
                      </a:schemeClr>
                    </a:solidFill>
                    <a:ea typeface="造字工房力黑（非商用）常规体"/>
                  </a:rPr>
                  <a:t>分别收集和分析信息，再由主控 Agent 汇总形成最终建议。</a:t>
                </a:r>
                <a:endParaRPr lang="zh-CN" altLang="zh-CN" sz="1600" dirty="0">
                  <a:solidFill>
                    <a:schemeClr val="accent3">
                      <a:lumMod val="50000"/>
                    </a:schemeClr>
                  </a:solidFill>
                  <a:ea typeface="造字工房力黑（非商用）常规体"/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0" y="135358"/>
            <a:ext cx="11940390" cy="461665"/>
            <a:chOff x="0" y="160089"/>
            <a:chExt cx="11940390" cy="461665"/>
          </a:xfrm>
        </p:grpSpPr>
        <p:grpSp>
          <p:nvGrpSpPr>
            <p:cNvPr id="3" name="组合 2"/>
            <p:cNvGrpSpPr/>
            <p:nvPr/>
          </p:nvGrpSpPr>
          <p:grpSpPr>
            <a:xfrm>
              <a:off x="0" y="160089"/>
              <a:ext cx="9666514" cy="461665"/>
              <a:chOff x="0" y="252452"/>
              <a:chExt cx="9666514" cy="461665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0" y="294640"/>
                <a:ext cx="880552" cy="375920"/>
                <a:chOff x="0" y="294640"/>
                <a:chExt cx="1094740" cy="467360"/>
              </a:xfrm>
              <a:solidFill>
                <a:srgbClr val="EE8A10"/>
              </a:solidFill>
            </p:grpSpPr>
            <p:sp>
              <p:nvSpPr>
                <p:cNvPr id="19" name="燕尾形 11"/>
                <p:cNvSpPr/>
                <p:nvPr/>
              </p:nvSpPr>
              <p:spPr>
                <a:xfrm>
                  <a:off x="416560" y="294640"/>
                  <a:ext cx="375920" cy="467360"/>
                </a:xfrm>
                <a:prstGeom prst="chevron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燕尾形 12"/>
                <p:cNvSpPr/>
                <p:nvPr/>
              </p:nvSpPr>
              <p:spPr>
                <a:xfrm>
                  <a:off x="718820" y="294640"/>
                  <a:ext cx="375920" cy="467360"/>
                </a:xfrm>
                <a:prstGeom prst="chevron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五边形 13"/>
                <p:cNvSpPr/>
                <p:nvPr/>
              </p:nvSpPr>
              <p:spPr>
                <a:xfrm>
                  <a:off x="0" y="294640"/>
                  <a:ext cx="518160" cy="467360"/>
                </a:xfrm>
                <a:prstGeom prst="homePlat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" name="文本框 5"/>
              <p:cNvSpPr txBox="1"/>
              <p:nvPr/>
            </p:nvSpPr>
            <p:spPr>
              <a:xfrm>
                <a:off x="1146364" y="252452"/>
                <a:ext cx="27844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spc="600" dirty="0"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</a:rPr>
                  <a:t>研究动机</a:t>
                </a:r>
                <a:endParaRPr lang="zh-CN" altLang="en-US" sz="2400" b="1" spc="600" dirty="0">
                  <a:latin typeface="锐字工房云字库细圆GBK" panose="02010604000000000000" pitchFamily="2" charset="-122"/>
                  <a:ea typeface="锐字工房云字库细圆GBK" panose="02010604000000000000" pitchFamily="2" charset="-122"/>
                </a:endParaRPr>
              </a:p>
            </p:txBody>
          </p:sp>
          <p:grpSp>
            <p:nvGrpSpPr>
              <p:cNvPr id="7" name="组合 6"/>
              <p:cNvGrpSpPr/>
              <p:nvPr/>
            </p:nvGrpSpPr>
            <p:grpSpPr>
              <a:xfrm>
                <a:off x="3356076" y="408709"/>
                <a:ext cx="1749361" cy="147782"/>
                <a:chOff x="635462" y="775854"/>
                <a:chExt cx="1749361" cy="147782"/>
              </a:xfrm>
              <a:solidFill>
                <a:srgbClr val="EE8A10"/>
              </a:solidFill>
            </p:grpSpPr>
            <p:sp>
              <p:nvSpPr>
                <p:cNvPr id="9" name="椭圆 8"/>
                <p:cNvSpPr/>
                <p:nvPr/>
              </p:nvSpPr>
              <p:spPr>
                <a:xfrm>
                  <a:off x="635462" y="775855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1036319" y="775854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" name="椭圆 11"/>
                <p:cNvSpPr/>
                <p:nvPr/>
              </p:nvSpPr>
              <p:spPr>
                <a:xfrm>
                  <a:off x="1437176" y="775855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椭圆 12"/>
                <p:cNvSpPr/>
                <p:nvPr/>
              </p:nvSpPr>
              <p:spPr>
                <a:xfrm>
                  <a:off x="1836185" y="775854"/>
                  <a:ext cx="147781" cy="147781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椭圆 13"/>
                <p:cNvSpPr/>
                <p:nvPr/>
              </p:nvSpPr>
              <p:spPr>
                <a:xfrm>
                  <a:off x="2237042" y="775854"/>
                  <a:ext cx="147781" cy="147781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>
                <a:off x="5212080" y="477520"/>
                <a:ext cx="4454434" cy="0"/>
              </a:xfrm>
              <a:prstGeom prst="line">
                <a:avLst/>
              </a:prstGeom>
              <a:ln w="317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65508" y="161931"/>
              <a:ext cx="2174882" cy="45606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1032649"/>
            <a:ext cx="12205651" cy="5623074"/>
            <a:chOff x="0" y="880249"/>
            <a:chExt cx="12205651" cy="5623074"/>
          </a:xfrm>
        </p:grpSpPr>
        <p:grpSp>
          <p:nvGrpSpPr>
            <p:cNvPr id="16" name="0bf993ed-4045-43f5-b6d7-6559592aae6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0" y="1340768"/>
              <a:ext cx="12205651" cy="5162555"/>
              <a:chOff x="0" y="1340768"/>
              <a:chExt cx="12205651" cy="5162555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7592356" y="4047596"/>
                <a:ext cx="4344488" cy="0"/>
              </a:xfrm>
              <a:prstGeom prst="line">
                <a:avLst/>
              </a:prstGeom>
              <a:ln w="3175" cap="rnd">
                <a:solidFill>
                  <a:schemeClr val="bg1">
                    <a:lumMod val="8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ïšḻiḓê"/>
              <p:cNvSpPr/>
              <p:nvPr/>
            </p:nvSpPr>
            <p:spPr bwMode="auto">
              <a:xfrm>
                <a:off x="0" y="1340768"/>
                <a:ext cx="2351584" cy="4703168"/>
              </a:xfrm>
              <a:custGeom>
                <a:avLst/>
                <a:gdLst>
                  <a:gd name="connsiteX0" fmla="*/ 0 w 2351584"/>
                  <a:gd name="connsiteY0" fmla="*/ 0 h 4703168"/>
                  <a:gd name="connsiteX1" fmla="*/ 2351584 w 2351584"/>
                  <a:gd name="connsiteY1" fmla="*/ 2351584 h 4703168"/>
                  <a:gd name="connsiteX2" fmla="*/ 0 w 2351584"/>
                  <a:gd name="connsiteY2" fmla="*/ 4703168 h 4703168"/>
                  <a:gd name="connsiteX3" fmla="*/ 0 w 2351584"/>
                  <a:gd name="connsiteY3" fmla="*/ 3773472 h 4703168"/>
                  <a:gd name="connsiteX4" fmla="*/ 1421888 w 2351584"/>
                  <a:gd name="connsiteY4" fmla="*/ 2351584 h 4703168"/>
                  <a:gd name="connsiteX5" fmla="*/ 0 w 2351584"/>
                  <a:gd name="connsiteY5" fmla="*/ 929696 h 4703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51584" h="4703168">
                    <a:moveTo>
                      <a:pt x="0" y="0"/>
                    </a:moveTo>
                    <a:cubicBezTo>
                      <a:pt x="1298744" y="0"/>
                      <a:pt x="2351584" y="1052840"/>
                      <a:pt x="2351584" y="2351584"/>
                    </a:cubicBezTo>
                    <a:cubicBezTo>
                      <a:pt x="2351584" y="3650328"/>
                      <a:pt x="1298744" y="4703168"/>
                      <a:pt x="0" y="4703168"/>
                    </a:cubicBezTo>
                    <a:lnTo>
                      <a:pt x="0" y="3773472"/>
                    </a:lnTo>
                    <a:cubicBezTo>
                      <a:pt x="785287" y="3773472"/>
                      <a:pt x="1421888" y="3136871"/>
                      <a:pt x="1421888" y="2351584"/>
                    </a:cubicBezTo>
                    <a:cubicBezTo>
                      <a:pt x="1421888" y="1566297"/>
                      <a:pt x="785287" y="929696"/>
                      <a:pt x="0" y="929696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  <a:ln w="9525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b="1">
                  <a:solidFill>
                    <a:schemeClr val="lt1"/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sym typeface="Segoe Script" panose="030B0504020000000003" pitchFamily="66" charset="0"/>
                </a:endParaRPr>
              </a:p>
            </p:txBody>
          </p:sp>
          <p:cxnSp>
            <p:nvCxnSpPr>
              <p:cNvPr id="20" name="直接连接符 19"/>
              <p:cNvCxnSpPr/>
              <p:nvPr/>
            </p:nvCxnSpPr>
            <p:spPr>
              <a:xfrm>
                <a:off x="7483569" y="2065536"/>
                <a:ext cx="0" cy="4437787"/>
              </a:xfrm>
              <a:prstGeom prst="line">
                <a:avLst/>
              </a:prstGeom>
              <a:ln w="3175" cap="rnd">
                <a:solidFill>
                  <a:schemeClr val="tx1">
                    <a:lumMod val="50000"/>
                    <a:lumOff val="50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islîḑé"/>
              <p:cNvSpPr txBox="1"/>
              <p:nvPr/>
            </p:nvSpPr>
            <p:spPr>
              <a:xfrm>
                <a:off x="7602975" y="2099696"/>
                <a:ext cx="4195161" cy="967977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Autofit/>
              </a:bodyPr>
              <a:lstStyle/>
              <a:p>
                <a:endParaRPr lang="en-US" altLang="zh-CN" sz="1400" dirty="0">
                  <a:ea typeface="造字工房力黑（非商用）常规体"/>
                </a:endParaRPr>
              </a:p>
              <a:p>
                <a:endParaRPr lang="en-US" altLang="zh-CN" sz="1400" dirty="0">
                  <a:ea typeface="造字工房力黑（非商用）常规体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400" dirty="0">
                    <a:ea typeface="造字工房力黑（非商用）常规体"/>
                  </a:rPr>
                  <a:t>自己检索</a:t>
                </a:r>
                <a:endParaRPr lang="en-US" altLang="zh-CN" sz="1400" dirty="0">
                  <a:ea typeface="造字工房力黑（非商用）常规体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400" dirty="0">
                    <a:ea typeface="造字工房力黑（非商用）常规体"/>
                  </a:rPr>
                  <a:t>自己分析</a:t>
                </a:r>
                <a:endParaRPr lang="en-US" altLang="zh-CN" sz="1400" dirty="0">
                  <a:ea typeface="造字工房力黑（非商用）常规体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400" dirty="0">
                    <a:ea typeface="造字工房力黑（非商用）常规体"/>
                  </a:rPr>
                  <a:t>自己决策</a:t>
                </a:r>
                <a:endParaRPr lang="en-US" altLang="zh-CN" sz="1400" dirty="0">
                  <a:ea typeface="造字工房力黑（非商用）常规体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400" dirty="0">
                    <a:ea typeface="造字工房力黑（非商用）常规体"/>
                  </a:rPr>
                  <a:t>输出结果</a:t>
                </a:r>
                <a:endParaRPr lang="zh-CN" altLang="zh-CN" sz="1400" dirty="0">
                  <a:ea typeface="造字工房力黑（非商用）常规体"/>
                </a:endParaRPr>
              </a:p>
            </p:txBody>
          </p:sp>
          <p:sp>
            <p:nvSpPr>
              <p:cNvPr id="22" name="íSlïḋè"/>
              <p:cNvSpPr txBox="1"/>
              <p:nvPr/>
            </p:nvSpPr>
            <p:spPr>
              <a:xfrm>
                <a:off x="7667927" y="2020948"/>
                <a:ext cx="4195161" cy="451793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r>
                  <a:rPr lang="en-US" altLang="zh-CN" sz="2000" b="1" dirty="0"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sym typeface="Segoe Script" panose="030B0504020000000003" pitchFamily="66" charset="0"/>
                  </a:rPr>
                  <a:t>Single Agent</a:t>
                </a:r>
                <a:endParaRPr lang="zh-CN" altLang="en-US" sz="2000" b="1" dirty="0"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sym typeface="Segoe Script" panose="030B0504020000000003" pitchFamily="66" charset="0"/>
                </a:endParaRPr>
              </a:p>
            </p:txBody>
          </p:sp>
          <p:sp>
            <p:nvSpPr>
              <p:cNvPr id="23" name="îšḷíḍe"/>
              <p:cNvSpPr txBox="1"/>
              <p:nvPr/>
            </p:nvSpPr>
            <p:spPr>
              <a:xfrm>
                <a:off x="7667020" y="4735368"/>
                <a:ext cx="4538631" cy="967977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sz="1400" dirty="0">
                    <a:ea typeface="造字工房力黑（非商用）常规体"/>
                  </a:rPr>
                  <a:t>搜索 Agent + 分析 Agent + 风险 Agent + 主控 Agen</a:t>
                </a:r>
                <a:r>
                  <a:rPr lang="en-US" altLang="zh-CN" sz="1400" dirty="0">
                    <a:ea typeface="造字工房力黑（非商用）常规体"/>
                  </a:rPr>
                  <a:t>t</a:t>
                </a:r>
                <a:endParaRPr lang="en-US" altLang="zh-CN" sz="1400" dirty="0">
                  <a:ea typeface="造字工房力黑（非商用）常规体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400" dirty="0">
                    <a:ea typeface="造字工房力黑（非商用）常规体"/>
                  </a:rPr>
                  <a:t>分工协作</a:t>
                </a:r>
                <a:endParaRPr lang="en-US" altLang="zh-CN" sz="1400" dirty="0">
                  <a:ea typeface="造字工房力黑（非商用）常规体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400" dirty="0">
                    <a:ea typeface="造字工房力黑（非商用）常规体"/>
                  </a:rPr>
                  <a:t>汇总结果</a:t>
                </a:r>
                <a:endParaRPr lang="zh-CN" altLang="zh-CN" sz="1400" dirty="0">
                  <a:ea typeface="造字工房力黑（非商用）常规体"/>
                </a:endParaRPr>
              </a:p>
            </p:txBody>
          </p:sp>
          <p:sp>
            <p:nvSpPr>
              <p:cNvPr id="24" name="íṡļiḑé"/>
              <p:cNvSpPr txBox="1"/>
              <p:nvPr/>
            </p:nvSpPr>
            <p:spPr>
              <a:xfrm>
                <a:off x="7602975" y="4173573"/>
                <a:ext cx="4195161" cy="451793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r>
                  <a:rPr lang="en-US" altLang="zh-CN" b="1" dirty="0"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  <a:sym typeface="Segoe Script" panose="030B0504020000000003" pitchFamily="66" charset="0"/>
                  </a:rPr>
                  <a:t>Multiple Agent</a:t>
                </a:r>
                <a:endParaRPr lang="zh-CN" altLang="en-US" b="1" dirty="0"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sym typeface="Segoe Script" panose="030B0504020000000003" pitchFamily="66" charset="0"/>
                </a:endParaRPr>
              </a:p>
            </p:txBody>
          </p:sp>
          <p:sp>
            <p:nvSpPr>
              <p:cNvPr id="25" name="iṩḷiḑé"/>
              <p:cNvSpPr txBox="1"/>
              <p:nvPr/>
            </p:nvSpPr>
            <p:spPr>
              <a:xfrm>
                <a:off x="2416536" y="2366351"/>
                <a:ext cx="4774794" cy="2190044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zh-CN" b="1" dirty="0">
                    <a:solidFill>
                      <a:schemeClr val="accent6">
                        <a:lumMod val="50000"/>
                      </a:schemeClr>
                    </a:solidFill>
                    <a:latin typeface="造字工房力黑（非商用）常规体"/>
                    <a:ea typeface="造字工房力黑（非商用）常规体"/>
                  </a:rPr>
                  <a:t>在复杂任务中，多智能体协作相比单智能体，是否能够提高任务完成质量与成功率？用户在多</a:t>
                </a:r>
                <a:r>
                  <a:rPr lang="en-US" altLang="zh-CN" b="1" dirty="0">
                    <a:solidFill>
                      <a:schemeClr val="accent6">
                        <a:lumMod val="50000"/>
                      </a:schemeClr>
                    </a:solidFill>
                    <a:latin typeface="造字工房力黑（非商用）常规体"/>
                    <a:ea typeface="造字工房力黑（非商用）常规体"/>
                  </a:rPr>
                  <a:t>Agent</a:t>
                </a:r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  <a:latin typeface="造字工房力黑（非商用）常规体"/>
                    <a:ea typeface="造字工房力黑（非商用）常规体"/>
                  </a:rPr>
                  <a:t>过程中进行决策，是否更好地增强体验</a:t>
                </a:r>
                <a:endParaRPr lang="zh-CN" altLang="en-US" b="1" dirty="0">
                  <a:solidFill>
                    <a:schemeClr val="accent6">
                      <a:lumMod val="50000"/>
                    </a:schemeClr>
                  </a:solidFill>
                  <a:latin typeface="造字工房力黑（非商用）常规体"/>
                  <a:ea typeface="造字工房力黑（非商用）常规体"/>
                  <a:sym typeface="Segoe Script" panose="030B0504020000000003" pitchFamily="66" charset="0"/>
                </a:endParaRPr>
              </a:p>
            </p:txBody>
          </p:sp>
        </p:grpSp>
        <p:sp>
          <p:nvSpPr>
            <p:cNvPr id="17" name="文本框 16"/>
            <p:cNvSpPr txBox="1"/>
            <p:nvPr/>
          </p:nvSpPr>
          <p:spPr>
            <a:xfrm>
              <a:off x="2066256" y="880249"/>
              <a:ext cx="92991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0" b="1" spc="600" dirty="0">
                  <a:solidFill>
                    <a:schemeClr val="accent2">
                      <a:lumMod val="50000"/>
                    </a:schemeClr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sym typeface="Segoe Script" panose="030B0504020000000003" pitchFamily="66" charset="0"/>
                </a:rPr>
                <a:t>多</a:t>
              </a:r>
              <a:r>
                <a:rPr lang="en-US" altLang="zh-CN" sz="6000" b="1" spc="600" dirty="0">
                  <a:solidFill>
                    <a:schemeClr val="accent2">
                      <a:lumMod val="50000"/>
                    </a:schemeClr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sym typeface="Segoe Script" panose="030B0504020000000003" pitchFamily="66" charset="0"/>
                </a:rPr>
                <a:t>Agent vs </a:t>
              </a:r>
              <a:r>
                <a:rPr lang="zh-CN" altLang="en-US" sz="6000" b="1" spc="600" dirty="0">
                  <a:solidFill>
                    <a:schemeClr val="accent2">
                      <a:lumMod val="50000"/>
                    </a:schemeClr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sym typeface="Segoe Script" panose="030B0504020000000003" pitchFamily="66" charset="0"/>
                </a:rPr>
                <a:t>单</a:t>
              </a:r>
              <a:r>
                <a:rPr lang="en-US" altLang="zh-CN" sz="6000" b="1" spc="600" dirty="0">
                  <a:solidFill>
                    <a:schemeClr val="accent2">
                      <a:lumMod val="50000"/>
                    </a:schemeClr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sym typeface="Segoe Script" panose="030B0504020000000003" pitchFamily="66" charset="0"/>
                </a:rPr>
                <a:t>Agent</a:t>
              </a:r>
              <a:endParaRPr lang="zh-CN" altLang="en-US" sz="6000" b="1" spc="600" dirty="0">
                <a:solidFill>
                  <a:schemeClr val="accent2">
                    <a:lumMod val="50000"/>
                  </a:schemeClr>
                </a:solidFill>
                <a:latin typeface="锐字工房云字库细圆GBK" panose="02010604000000000000" pitchFamily="2" charset="-122"/>
                <a:ea typeface="锐字工房云字库细圆GBK" panose="02010604000000000000" pitchFamily="2" charset="-122"/>
                <a:sym typeface="Segoe Script" panose="030B0504020000000003" pitchFamily="66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0" y="156335"/>
            <a:ext cx="11940390" cy="461665"/>
            <a:chOff x="0" y="156335"/>
            <a:chExt cx="11940390" cy="461665"/>
          </a:xfrm>
        </p:grpSpPr>
        <p:grpSp>
          <p:nvGrpSpPr>
            <p:cNvPr id="27" name="组合 26"/>
            <p:cNvGrpSpPr/>
            <p:nvPr/>
          </p:nvGrpSpPr>
          <p:grpSpPr>
            <a:xfrm>
              <a:off x="0" y="156335"/>
              <a:ext cx="9666514" cy="461665"/>
              <a:chOff x="0" y="248698"/>
              <a:chExt cx="9666514" cy="461665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0" y="294640"/>
                <a:ext cx="880552" cy="375920"/>
                <a:chOff x="0" y="294640"/>
                <a:chExt cx="1094740" cy="467360"/>
              </a:xfrm>
              <a:solidFill>
                <a:srgbClr val="EE8A10"/>
              </a:solidFill>
            </p:grpSpPr>
            <p:sp>
              <p:nvSpPr>
                <p:cNvPr id="38" name="燕尾形 11"/>
                <p:cNvSpPr/>
                <p:nvPr/>
              </p:nvSpPr>
              <p:spPr>
                <a:xfrm>
                  <a:off x="416560" y="294640"/>
                  <a:ext cx="375920" cy="467360"/>
                </a:xfrm>
                <a:prstGeom prst="chevron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燕尾形 12"/>
                <p:cNvSpPr/>
                <p:nvPr/>
              </p:nvSpPr>
              <p:spPr>
                <a:xfrm>
                  <a:off x="718820" y="294640"/>
                  <a:ext cx="375920" cy="467360"/>
                </a:xfrm>
                <a:prstGeom prst="chevron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五边形 13"/>
                <p:cNvSpPr/>
                <p:nvPr/>
              </p:nvSpPr>
              <p:spPr>
                <a:xfrm>
                  <a:off x="0" y="294640"/>
                  <a:ext cx="518160" cy="467360"/>
                </a:xfrm>
                <a:prstGeom prst="homePlat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0" name="文本框 29"/>
              <p:cNvSpPr txBox="1"/>
              <p:nvPr/>
            </p:nvSpPr>
            <p:spPr>
              <a:xfrm>
                <a:off x="972489" y="248698"/>
                <a:ext cx="2702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spc="600" dirty="0"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</a:rPr>
                  <a:t>核心研究问题</a:t>
                </a:r>
                <a:endParaRPr lang="zh-CN" altLang="en-US" sz="2400" b="1" spc="600" dirty="0">
                  <a:latin typeface="锐字工房云字库细圆GBK" panose="02010604000000000000" pitchFamily="2" charset="-122"/>
                  <a:ea typeface="锐字工房云字库细圆GBK" panose="02010604000000000000" pitchFamily="2" charset="-122"/>
                </a:endParaRPr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3356076" y="408709"/>
                <a:ext cx="1749361" cy="147782"/>
                <a:chOff x="635462" y="775854"/>
                <a:chExt cx="1749361" cy="147782"/>
              </a:xfrm>
              <a:solidFill>
                <a:srgbClr val="EE8A10"/>
              </a:solidFill>
            </p:grpSpPr>
            <p:sp>
              <p:nvSpPr>
                <p:cNvPr id="33" name="椭圆 32"/>
                <p:cNvSpPr/>
                <p:nvPr/>
              </p:nvSpPr>
              <p:spPr>
                <a:xfrm>
                  <a:off x="635462" y="775855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椭圆 33"/>
                <p:cNvSpPr/>
                <p:nvPr/>
              </p:nvSpPr>
              <p:spPr>
                <a:xfrm>
                  <a:off x="1036319" y="775854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>
                  <a:off x="1437176" y="775855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>
                  <a:off x="1836185" y="775854"/>
                  <a:ext cx="147781" cy="147781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>
                  <a:off x="2237042" y="775854"/>
                  <a:ext cx="147781" cy="147781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2" name="直接连接符 31"/>
              <p:cNvCxnSpPr/>
              <p:nvPr/>
            </p:nvCxnSpPr>
            <p:spPr>
              <a:xfrm>
                <a:off x="5212080" y="477520"/>
                <a:ext cx="4454434" cy="0"/>
              </a:xfrm>
              <a:prstGeom prst="line">
                <a:avLst/>
              </a:prstGeom>
              <a:ln w="317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65508" y="161931"/>
              <a:ext cx="2174882" cy="45606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407160"/>
            <a:ext cx="8001000" cy="404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0" y="713740"/>
            <a:ext cx="12192001" cy="4737100"/>
            <a:chOff x="0" y="713740"/>
            <a:chExt cx="12192001" cy="4737100"/>
          </a:xfrm>
        </p:grpSpPr>
        <p:grpSp>
          <p:nvGrpSpPr>
            <p:cNvPr id="26" name="组合 25"/>
            <p:cNvGrpSpPr/>
            <p:nvPr/>
          </p:nvGrpSpPr>
          <p:grpSpPr>
            <a:xfrm>
              <a:off x="0" y="1407160"/>
              <a:ext cx="4064000" cy="4043680"/>
              <a:chOff x="0" y="1407160"/>
              <a:chExt cx="4064000" cy="4043680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0" y="1407160"/>
                <a:ext cx="4064000" cy="404368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127000" y="2552462"/>
                <a:ext cx="3810000" cy="1568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4800" spc="600" dirty="0">
                    <a:solidFill>
                      <a:schemeClr val="bg1"/>
                    </a:solidFill>
                    <a:latin typeface="造字工房力黑（非商用）常规体" pitchFamily="50" charset="-122"/>
                    <a:ea typeface="造字工房力黑（非商用）常规体" pitchFamily="50" charset="-122"/>
                    <a:cs typeface="+mn-ea"/>
                    <a:sym typeface="Agency FB" panose="020B0503020202020204" pitchFamily="34" charset="0"/>
                  </a:rPr>
                  <a:t>国内外学术研究</a:t>
                </a:r>
                <a:endParaRPr lang="zh-CN" altLang="en-US" sz="4800" spc="600" dirty="0">
                  <a:solidFill>
                    <a:schemeClr val="bg1"/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Agency FB" panose="020B0503020202020204" pitchFamily="34" charset="0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7564229" y="713740"/>
              <a:ext cx="4627772" cy="1386840"/>
              <a:chOff x="7564229" y="713740"/>
              <a:chExt cx="4627772" cy="1386840"/>
            </a:xfrm>
          </p:grpSpPr>
          <p:sp>
            <p:nvSpPr>
              <p:cNvPr id="29" name="任意多边形 28"/>
              <p:cNvSpPr/>
              <p:nvPr/>
            </p:nvSpPr>
            <p:spPr>
              <a:xfrm flipH="1" flipV="1">
                <a:off x="7564229" y="713740"/>
                <a:ext cx="4627771" cy="1386840"/>
              </a:xfrm>
              <a:custGeom>
                <a:avLst/>
                <a:gdLst>
                  <a:gd name="connsiteX0" fmla="*/ 0 w 7147560"/>
                  <a:gd name="connsiteY0" fmla="*/ 0 h 2814320"/>
                  <a:gd name="connsiteX1" fmla="*/ 6443980 w 7147560"/>
                  <a:gd name="connsiteY1" fmla="*/ 0 h 2814320"/>
                  <a:gd name="connsiteX2" fmla="*/ 7147560 w 7147560"/>
                  <a:gd name="connsiteY2" fmla="*/ 2814320 h 2814320"/>
                  <a:gd name="connsiteX3" fmla="*/ 0 w 7147560"/>
                  <a:gd name="connsiteY3" fmla="*/ 2814320 h 2814320"/>
                  <a:gd name="connsiteX0-1" fmla="*/ 0 w 8689506"/>
                  <a:gd name="connsiteY0-2" fmla="*/ 0 h 2814320"/>
                  <a:gd name="connsiteX1-3" fmla="*/ 6443980 w 8689506"/>
                  <a:gd name="connsiteY1-4" fmla="*/ 0 h 2814320"/>
                  <a:gd name="connsiteX2-5" fmla="*/ 8689506 w 8689506"/>
                  <a:gd name="connsiteY2-6" fmla="*/ 2814320 h 2814320"/>
                  <a:gd name="connsiteX3-7" fmla="*/ 0 w 8689506"/>
                  <a:gd name="connsiteY3-8" fmla="*/ 2814320 h 2814320"/>
                  <a:gd name="connsiteX4" fmla="*/ 0 w 8689506"/>
                  <a:gd name="connsiteY4" fmla="*/ 0 h 2814320"/>
                  <a:gd name="connsiteX0-9" fmla="*/ 0 w 9235080"/>
                  <a:gd name="connsiteY0-10" fmla="*/ 0 h 2834640"/>
                  <a:gd name="connsiteX1-11" fmla="*/ 6443980 w 9235080"/>
                  <a:gd name="connsiteY1-12" fmla="*/ 0 h 2834640"/>
                  <a:gd name="connsiteX2-13" fmla="*/ 9235080 w 9235080"/>
                  <a:gd name="connsiteY2-14" fmla="*/ 2834640 h 2834640"/>
                  <a:gd name="connsiteX3-15" fmla="*/ 0 w 9235080"/>
                  <a:gd name="connsiteY3-16" fmla="*/ 2814320 h 2834640"/>
                  <a:gd name="connsiteX4-17" fmla="*/ 0 w 9235080"/>
                  <a:gd name="connsiteY4-18" fmla="*/ 0 h 283464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17" y="connsiteY4-18"/>
                  </a:cxn>
                </a:cxnLst>
                <a:rect l="l" t="t" r="r" b="b"/>
                <a:pathLst>
                  <a:path w="9235080" h="2834640">
                    <a:moveTo>
                      <a:pt x="0" y="0"/>
                    </a:moveTo>
                    <a:lnTo>
                      <a:pt x="6443980" y="0"/>
                    </a:lnTo>
                    <a:lnTo>
                      <a:pt x="9235080" y="2834640"/>
                    </a:lnTo>
                    <a:lnTo>
                      <a:pt x="0" y="2814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+mn-lt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7712365" y="991661"/>
                <a:ext cx="447963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4000" spc="300" dirty="0">
                    <a:solidFill>
                      <a:schemeClr val="bg1"/>
                    </a:solidFill>
                    <a:latin typeface="造字工房力黑（非商用）常规体" pitchFamily="50" charset="-122"/>
                    <a:ea typeface="造字工房力黑（非商用）常规体" pitchFamily="50" charset="-122"/>
                    <a:cs typeface="+mn-ea"/>
                    <a:sym typeface="+mn-lt"/>
                  </a:rPr>
                  <a:t>PART ONE</a:t>
                </a:r>
                <a:endParaRPr lang="zh-CN" altLang="en-US" sz="4000" spc="300" dirty="0">
                  <a:solidFill>
                    <a:schemeClr val="bg1"/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8" name="文本框 27"/>
            <p:cNvSpPr txBox="1"/>
            <p:nvPr/>
          </p:nvSpPr>
          <p:spPr>
            <a:xfrm>
              <a:off x="9550399" y="3052435"/>
              <a:ext cx="2349194" cy="144526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spc="600" dirty="0">
                  <a:solidFill>
                    <a:schemeClr val="bg1"/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+mn-lt"/>
                </a:rPr>
                <a:t>02</a:t>
              </a:r>
              <a:endParaRPr lang="zh-CN" altLang="en-US" sz="8800" spc="600" dirty="0">
                <a:solidFill>
                  <a:schemeClr val="bg1"/>
                </a:solidFill>
                <a:latin typeface="造字工房力黑（非商用）常规体" pitchFamily="50" charset="-122"/>
                <a:ea typeface="造字工房力黑（非商用）常规体" pitchFamily="50" charset="-122"/>
                <a:cs typeface="+mn-ea"/>
                <a:sym typeface="+mn-lt"/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4769" y="477840"/>
            <a:ext cx="2174882" cy="4560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11c8c7bc-61aa-4d43-ba79-1ad1272efd51"/>
          <p:cNvGrpSpPr>
            <a:grpSpLocks noChangeAspect="1"/>
          </p:cNvGrpSpPr>
          <p:nvPr/>
        </p:nvGrpSpPr>
        <p:grpSpPr>
          <a:xfrm>
            <a:off x="1286910" y="2079186"/>
            <a:ext cx="10404347" cy="3825225"/>
            <a:chOff x="4465638" y="3805414"/>
            <a:chExt cx="16714076" cy="6145036"/>
          </a:xfrm>
        </p:grpSpPr>
        <p:sp>
          <p:nvSpPr>
            <p:cNvPr id="16" name="is1ide-Freeform: Shape 2"/>
            <p:cNvSpPr/>
            <p:nvPr/>
          </p:nvSpPr>
          <p:spPr bwMode="auto">
            <a:xfrm>
              <a:off x="4465638" y="6907213"/>
              <a:ext cx="3556000" cy="2428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6175" y="0"/>
                    <a:pt x="4508" y="6511"/>
                    <a:pt x="3163" y="12415"/>
                  </a:cubicBezTo>
                  <a:cubicBezTo>
                    <a:pt x="2426" y="15650"/>
                    <a:pt x="1360" y="18729"/>
                    <a:pt x="0" y="21599"/>
                  </a:cubicBezTo>
                  <a:lnTo>
                    <a:pt x="21600" y="21599"/>
                  </a:lnTo>
                  <a:cubicBezTo>
                    <a:pt x="20239" y="18729"/>
                    <a:pt x="19173" y="15650"/>
                    <a:pt x="18436" y="12415"/>
                  </a:cubicBezTo>
                  <a:cubicBezTo>
                    <a:pt x="17091" y="6511"/>
                    <a:pt x="15424" y="0"/>
                    <a:pt x="1080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17" name="is1ide-Freeform: Shape 3"/>
            <p:cNvSpPr/>
            <p:nvPr/>
          </p:nvSpPr>
          <p:spPr bwMode="auto">
            <a:xfrm>
              <a:off x="6850063" y="5532438"/>
              <a:ext cx="3556000" cy="38036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6149" y="0"/>
                    <a:pt x="4045" y="4019"/>
                    <a:pt x="3163" y="7928"/>
                  </a:cubicBezTo>
                  <a:cubicBezTo>
                    <a:pt x="2135" y="12489"/>
                    <a:pt x="1080" y="17046"/>
                    <a:pt x="0" y="21600"/>
                  </a:cubicBezTo>
                  <a:lnTo>
                    <a:pt x="21600" y="21600"/>
                  </a:lnTo>
                  <a:cubicBezTo>
                    <a:pt x="20519" y="17046"/>
                    <a:pt x="19464" y="12489"/>
                    <a:pt x="18436" y="7928"/>
                  </a:cubicBezTo>
                  <a:cubicBezTo>
                    <a:pt x="17554" y="4019"/>
                    <a:pt x="15450" y="0"/>
                    <a:pt x="10800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18" name="is1ide-Freeform: Shape 4"/>
            <p:cNvSpPr/>
            <p:nvPr/>
          </p:nvSpPr>
          <p:spPr bwMode="auto">
            <a:xfrm>
              <a:off x="9242425" y="7621588"/>
              <a:ext cx="3556000" cy="17145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5879" y="0"/>
                    <a:pt x="5931" y="11296"/>
                    <a:pt x="3163" y="17598"/>
                  </a:cubicBezTo>
                  <a:cubicBezTo>
                    <a:pt x="2360" y="19429"/>
                    <a:pt x="1260" y="20819"/>
                    <a:pt x="0" y="21600"/>
                  </a:cubicBezTo>
                  <a:lnTo>
                    <a:pt x="21600" y="21600"/>
                  </a:lnTo>
                  <a:cubicBezTo>
                    <a:pt x="20339" y="20819"/>
                    <a:pt x="19239" y="19429"/>
                    <a:pt x="18436" y="17598"/>
                  </a:cubicBezTo>
                  <a:cubicBezTo>
                    <a:pt x="15668" y="11296"/>
                    <a:pt x="15720" y="0"/>
                    <a:pt x="10800" y="0"/>
                  </a:cubicBezTo>
                  <a:close/>
                </a:path>
              </a:pathLst>
            </a:custGeom>
            <a:solidFill>
              <a:schemeClr val="accent3">
                <a:alpha val="70000"/>
              </a:schemeClr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19" name="is1ide-Freeform: Shape 5"/>
            <p:cNvSpPr/>
            <p:nvPr/>
          </p:nvSpPr>
          <p:spPr bwMode="auto">
            <a:xfrm>
              <a:off x="11550650" y="6473825"/>
              <a:ext cx="3556000" cy="286226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6174" y="0"/>
                    <a:pt x="4243" y="5400"/>
                    <a:pt x="3163" y="10538"/>
                  </a:cubicBezTo>
                  <a:cubicBezTo>
                    <a:pt x="2368" y="14322"/>
                    <a:pt x="1309" y="18015"/>
                    <a:pt x="0" y="21600"/>
                  </a:cubicBezTo>
                  <a:lnTo>
                    <a:pt x="21600" y="21600"/>
                  </a:lnTo>
                  <a:cubicBezTo>
                    <a:pt x="20290" y="18015"/>
                    <a:pt x="19231" y="14322"/>
                    <a:pt x="18436" y="10538"/>
                  </a:cubicBezTo>
                  <a:cubicBezTo>
                    <a:pt x="17356" y="5400"/>
                    <a:pt x="15425" y="0"/>
                    <a:pt x="10800" y="0"/>
                  </a:cubicBezTo>
                  <a:close/>
                </a:path>
              </a:pathLst>
            </a:custGeom>
            <a:solidFill>
              <a:schemeClr val="accent4">
                <a:alpha val="70000"/>
              </a:schemeClr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0" name="is1ide-Freeform: Shape 6"/>
            <p:cNvSpPr/>
            <p:nvPr/>
          </p:nvSpPr>
          <p:spPr bwMode="auto">
            <a:xfrm>
              <a:off x="13950950" y="7437438"/>
              <a:ext cx="3556000" cy="18986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6056" y="0"/>
                    <a:pt x="5367" y="9280"/>
                    <a:pt x="3163" y="15885"/>
                  </a:cubicBezTo>
                  <a:cubicBezTo>
                    <a:pt x="2408" y="18148"/>
                    <a:pt x="1324" y="20101"/>
                    <a:pt x="0" y="21600"/>
                  </a:cubicBezTo>
                  <a:lnTo>
                    <a:pt x="21600" y="21600"/>
                  </a:lnTo>
                  <a:cubicBezTo>
                    <a:pt x="20275" y="20101"/>
                    <a:pt x="19191" y="18148"/>
                    <a:pt x="18436" y="15885"/>
                  </a:cubicBezTo>
                  <a:cubicBezTo>
                    <a:pt x="16232" y="9280"/>
                    <a:pt x="15543" y="0"/>
                    <a:pt x="10800" y="0"/>
                  </a:cubicBezTo>
                  <a:close/>
                </a:path>
              </a:pathLst>
            </a:custGeom>
            <a:solidFill>
              <a:schemeClr val="accent5">
                <a:alpha val="70000"/>
              </a:schemeClr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1" name="is1ide-Freeform: Shape 7"/>
            <p:cNvSpPr/>
            <p:nvPr/>
          </p:nvSpPr>
          <p:spPr bwMode="auto">
            <a:xfrm>
              <a:off x="16360775" y="6664508"/>
              <a:ext cx="4818939" cy="2671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6175" y="0"/>
                    <a:pt x="4508" y="6511"/>
                    <a:pt x="3163" y="12415"/>
                  </a:cubicBezTo>
                  <a:cubicBezTo>
                    <a:pt x="2426" y="15650"/>
                    <a:pt x="1360" y="18729"/>
                    <a:pt x="0" y="21599"/>
                  </a:cubicBezTo>
                  <a:lnTo>
                    <a:pt x="21600" y="21599"/>
                  </a:lnTo>
                  <a:cubicBezTo>
                    <a:pt x="20239" y="18729"/>
                    <a:pt x="19173" y="15650"/>
                    <a:pt x="18436" y="12415"/>
                  </a:cubicBezTo>
                  <a:cubicBezTo>
                    <a:pt x="17091" y="6511"/>
                    <a:pt x="15424" y="0"/>
                    <a:pt x="10800" y="0"/>
                  </a:cubicBezTo>
                  <a:close/>
                </a:path>
              </a:pathLst>
            </a:custGeom>
            <a:solidFill>
              <a:schemeClr val="accent6">
                <a:alpha val="70000"/>
              </a:schemeClr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2" name="is1ide-Freeform: Shape 8"/>
            <p:cNvSpPr/>
            <p:nvPr/>
          </p:nvSpPr>
          <p:spPr bwMode="auto">
            <a:xfrm>
              <a:off x="5613400" y="9521825"/>
              <a:ext cx="1258888" cy="4286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/>
            </a:bodyPr>
            <a:lstStyle/>
            <a:p>
              <a:pPr marL="0" indent="0" algn="ctr">
                <a:buSzTx/>
                <a:buFontTx/>
                <a:buNone/>
              </a:pPr>
              <a:r>
                <a:rPr lang="en-US" altLang="zh-CN" sz="1600" dirty="0">
                  <a:solidFill>
                    <a:schemeClr val="tx1"/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rPr>
                <a:t>1999</a:t>
              </a:r>
              <a:endParaRPr lang="zh-CN" altLang="en-US" sz="1600" dirty="0">
                <a:solidFill>
                  <a:schemeClr val="tx1"/>
                </a:solidFill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3" name="is1ide-Freeform: Shape 9"/>
            <p:cNvSpPr/>
            <p:nvPr/>
          </p:nvSpPr>
          <p:spPr bwMode="auto">
            <a:xfrm>
              <a:off x="7999413" y="9521825"/>
              <a:ext cx="1258887" cy="4286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/>
            </a:bodyPr>
            <a:lstStyle/>
            <a:p>
              <a:pPr marL="0" indent="0" algn="ctr">
                <a:buSzTx/>
                <a:buFontTx/>
                <a:buNone/>
              </a:pPr>
              <a:r>
                <a:rPr lang="en-US" altLang="zh-CN" sz="1600" dirty="0">
                  <a:solidFill>
                    <a:schemeClr val="tx1"/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rPr>
                <a:t>2014</a:t>
              </a:r>
              <a:endParaRPr lang="zh-CN" altLang="en-US" sz="1600" dirty="0">
                <a:solidFill>
                  <a:schemeClr val="tx1"/>
                </a:solidFill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4" name="is1ide-Freeform: Shape 10"/>
            <p:cNvSpPr/>
            <p:nvPr/>
          </p:nvSpPr>
          <p:spPr bwMode="auto">
            <a:xfrm>
              <a:off x="10406063" y="9521825"/>
              <a:ext cx="1260475" cy="4286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/>
            </a:bodyPr>
            <a:lstStyle/>
            <a:p>
              <a:pPr marL="0" indent="0" algn="ctr">
                <a:buSzTx/>
                <a:buFontTx/>
                <a:buNone/>
              </a:pPr>
              <a:r>
                <a:rPr lang="en-US" altLang="zh-CN" sz="1600" dirty="0">
                  <a:solidFill>
                    <a:schemeClr val="tx1"/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rPr>
                <a:t>2017</a:t>
              </a:r>
              <a:endParaRPr lang="zh-CN" altLang="en-US" sz="1600" dirty="0">
                <a:solidFill>
                  <a:schemeClr val="tx1"/>
                </a:solidFill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5" name="is1ide-Freeform: Shape 11"/>
            <p:cNvSpPr/>
            <p:nvPr/>
          </p:nvSpPr>
          <p:spPr bwMode="auto">
            <a:xfrm>
              <a:off x="12725400" y="9521825"/>
              <a:ext cx="1258888" cy="4286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/>
            </a:bodyPr>
            <a:lstStyle/>
            <a:p>
              <a:pPr marL="0" indent="0" algn="ctr">
                <a:buSzTx/>
                <a:buFontTx/>
                <a:buNone/>
              </a:pPr>
              <a:r>
                <a:rPr lang="en-US" altLang="zh-CN" sz="1600" dirty="0">
                  <a:solidFill>
                    <a:schemeClr val="tx1"/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rPr>
                <a:t>2019</a:t>
              </a:r>
              <a:endParaRPr lang="zh-CN" altLang="en-US" sz="1600" dirty="0">
                <a:solidFill>
                  <a:schemeClr val="tx1"/>
                </a:solidFill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6" name="îṥļîḑé-Freeform: Shape 12"/>
            <p:cNvSpPr/>
            <p:nvPr/>
          </p:nvSpPr>
          <p:spPr bwMode="auto">
            <a:xfrm>
              <a:off x="15116175" y="9521825"/>
              <a:ext cx="1258888" cy="4286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/>
            </a:bodyPr>
            <a:lstStyle/>
            <a:p>
              <a:pPr marL="0" indent="0" algn="ctr">
                <a:buSzTx/>
                <a:buFontTx/>
                <a:buNone/>
              </a:pPr>
              <a:r>
                <a:rPr lang="en-US" altLang="zh-CN" sz="1600" dirty="0"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rPr>
                <a:t>2023</a:t>
              </a:r>
              <a:endParaRPr lang="zh-CN" altLang="en-US" sz="1600" dirty="0">
                <a:solidFill>
                  <a:schemeClr val="tx1"/>
                </a:solidFill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7" name="îṥļîḑé-Freeform: Shape 13"/>
            <p:cNvSpPr/>
            <p:nvPr/>
          </p:nvSpPr>
          <p:spPr bwMode="auto">
            <a:xfrm>
              <a:off x="17505363" y="9521825"/>
              <a:ext cx="1260475" cy="4286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/>
            </a:bodyPr>
            <a:lstStyle/>
            <a:p>
              <a:pPr marL="0" indent="0" algn="ctr">
                <a:buSzTx/>
                <a:buFontTx/>
                <a:buNone/>
              </a:pPr>
              <a:r>
                <a:rPr lang="en-US" altLang="zh-CN" sz="1600" dirty="0">
                  <a:solidFill>
                    <a:schemeClr val="tx1"/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rPr>
                <a:t>2024</a:t>
              </a:r>
              <a:r>
                <a:rPr lang="zh-CN" altLang="en-US" sz="1600" dirty="0">
                  <a:solidFill>
                    <a:schemeClr val="tx1"/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rPr>
                <a:t>以后</a:t>
              </a:r>
              <a:endParaRPr lang="zh-CN" altLang="en-US" sz="1600" dirty="0">
                <a:solidFill>
                  <a:schemeClr val="tx1"/>
                </a:solidFill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8" name="îṥļîḑé-Freeform: Shape 14"/>
            <p:cNvSpPr/>
            <p:nvPr/>
          </p:nvSpPr>
          <p:spPr bwMode="auto">
            <a:xfrm>
              <a:off x="4768072" y="5062261"/>
              <a:ext cx="2337576" cy="1729858"/>
            </a:xfrm>
            <a:custGeom>
              <a:avLst/>
              <a:gdLst>
                <a:gd name="T0" fmla="+- 0 10800 961"/>
                <a:gd name="T1" fmla="*/ T0 w 19679"/>
                <a:gd name="T2" fmla="*/ 10770 h 21541"/>
                <a:gd name="T3" fmla="+- 0 10800 961"/>
                <a:gd name="T4" fmla="*/ T3 w 19679"/>
                <a:gd name="T5" fmla="*/ 10770 h 21541"/>
                <a:gd name="T6" fmla="+- 0 10800 961"/>
                <a:gd name="T7" fmla="*/ T6 w 19679"/>
                <a:gd name="T8" fmla="*/ 10770 h 21541"/>
                <a:gd name="T9" fmla="+- 0 10800 961"/>
                <a:gd name="T10" fmla="*/ T9 w 19679"/>
                <a:gd name="T11" fmla="*/ 10770 h 21541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9679" h="21541">
                  <a:moveTo>
                    <a:pt x="9839" y="0"/>
                  </a:moveTo>
                  <a:cubicBezTo>
                    <a:pt x="7320" y="0"/>
                    <a:pt x="4802" y="936"/>
                    <a:pt x="2881" y="2808"/>
                  </a:cubicBezTo>
                  <a:cubicBezTo>
                    <a:pt x="-961" y="6553"/>
                    <a:pt x="-961" y="12624"/>
                    <a:pt x="2881" y="16368"/>
                  </a:cubicBezTo>
                  <a:cubicBezTo>
                    <a:pt x="4235" y="17687"/>
                    <a:pt x="5883" y="18532"/>
                    <a:pt x="7620" y="18921"/>
                  </a:cubicBezTo>
                  <a:cubicBezTo>
                    <a:pt x="8538" y="20485"/>
                    <a:pt x="10394" y="21599"/>
                    <a:pt x="12225" y="21538"/>
                  </a:cubicBezTo>
                  <a:cubicBezTo>
                    <a:pt x="12337" y="21535"/>
                    <a:pt x="12449" y="21523"/>
                    <a:pt x="12557" y="21510"/>
                  </a:cubicBezTo>
                  <a:cubicBezTo>
                    <a:pt x="11832" y="20830"/>
                    <a:pt x="11266" y="20009"/>
                    <a:pt x="10921" y="19113"/>
                  </a:cubicBezTo>
                  <a:cubicBezTo>
                    <a:pt x="13067" y="18883"/>
                    <a:pt x="15151" y="17972"/>
                    <a:pt x="16796" y="16368"/>
                  </a:cubicBezTo>
                  <a:cubicBezTo>
                    <a:pt x="20639" y="12624"/>
                    <a:pt x="20638" y="6553"/>
                    <a:pt x="16796" y="2808"/>
                  </a:cubicBezTo>
                  <a:cubicBezTo>
                    <a:pt x="14875" y="936"/>
                    <a:pt x="12357" y="0"/>
                    <a:pt x="98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9" name="îṥļîḑé-Freeform: Shape 15"/>
            <p:cNvSpPr/>
            <p:nvPr/>
          </p:nvSpPr>
          <p:spPr bwMode="auto">
            <a:xfrm>
              <a:off x="4606927" y="5364163"/>
              <a:ext cx="2728909" cy="92392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/>
            </a:bodyPr>
            <a:lstStyle/>
            <a:p>
              <a:pPr marL="0" indent="0" algn="ctr">
                <a:buSzTx/>
                <a:buFontTx/>
                <a:buNone/>
              </a:pPr>
              <a:r>
                <a:rPr lang="zh-CN" altLang="en-US" sz="1400" dirty="0">
                  <a:solidFill>
                    <a:srgbClr val="FFFFFF"/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rPr>
                <a:t>完全自动化</a:t>
              </a:r>
              <a:r>
                <a:rPr lang="en-US" altLang="zh-CN" sz="1400" dirty="0">
                  <a:solidFill>
                    <a:srgbClr val="FFFFFF"/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Wingdings" panose="05000000000000000000" pitchFamily="2" charset="2"/>
                </a:rPr>
                <a:t></a:t>
              </a:r>
              <a:endParaRPr lang="en-US" altLang="zh-CN" sz="1400" dirty="0">
                <a:solidFill>
                  <a:srgbClr val="FFFFFF"/>
                </a:solidFill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  <a:p>
              <a:pPr marL="0" indent="0" algn="ctr">
                <a:buSzTx/>
                <a:buFontTx/>
                <a:buNone/>
              </a:pPr>
              <a:r>
                <a:rPr lang="zh-CN" altLang="en-US" sz="1400" dirty="0">
                  <a:solidFill>
                    <a:srgbClr val="FFFFFF"/>
                  </a:solidFill>
                  <a:latin typeface="锐字工房云字库细圆GBK" panose="02010604000000000000" pitchFamily="2" charset="-122"/>
                  <a:ea typeface="锐字工房云字库细圆GBK" panose="02010604000000000000" pitchFamily="2" charset="-122"/>
                  <a:cs typeface="+mn-ea"/>
                  <a:sym typeface="+mn-lt"/>
                </a:rPr>
                <a:t>混合主动式交互</a:t>
              </a:r>
              <a:endParaRPr lang="id-ID" sz="1400" dirty="0">
                <a:solidFill>
                  <a:srgbClr val="FFFFFF"/>
                </a:solidFill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0" name="îṥļîḑé-Freeform: Shape 16"/>
            <p:cNvSpPr/>
            <p:nvPr/>
          </p:nvSpPr>
          <p:spPr bwMode="auto">
            <a:xfrm>
              <a:off x="7105648" y="3874444"/>
              <a:ext cx="2958712" cy="1476595"/>
            </a:xfrm>
            <a:custGeom>
              <a:avLst/>
              <a:gdLst>
                <a:gd name="T0" fmla="+- 0 10800 961"/>
                <a:gd name="T1" fmla="*/ T0 w 19679"/>
                <a:gd name="T2" fmla="*/ 10770 h 21541"/>
                <a:gd name="T3" fmla="+- 0 10800 961"/>
                <a:gd name="T4" fmla="*/ T3 w 19679"/>
                <a:gd name="T5" fmla="*/ 10770 h 21541"/>
                <a:gd name="T6" fmla="+- 0 10800 961"/>
                <a:gd name="T7" fmla="*/ T6 w 19679"/>
                <a:gd name="T8" fmla="*/ 10770 h 21541"/>
                <a:gd name="T9" fmla="+- 0 10800 961"/>
                <a:gd name="T10" fmla="*/ T9 w 19679"/>
                <a:gd name="T11" fmla="*/ 10770 h 21541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9679" h="21541">
                  <a:moveTo>
                    <a:pt x="9839" y="0"/>
                  </a:moveTo>
                  <a:cubicBezTo>
                    <a:pt x="7320" y="0"/>
                    <a:pt x="4802" y="936"/>
                    <a:pt x="2881" y="2808"/>
                  </a:cubicBezTo>
                  <a:cubicBezTo>
                    <a:pt x="-961" y="6553"/>
                    <a:pt x="-961" y="12624"/>
                    <a:pt x="2881" y="16368"/>
                  </a:cubicBezTo>
                  <a:cubicBezTo>
                    <a:pt x="4235" y="17687"/>
                    <a:pt x="5883" y="18532"/>
                    <a:pt x="7620" y="18921"/>
                  </a:cubicBezTo>
                  <a:cubicBezTo>
                    <a:pt x="8538" y="20485"/>
                    <a:pt x="10394" y="21600"/>
                    <a:pt x="12225" y="21538"/>
                  </a:cubicBezTo>
                  <a:cubicBezTo>
                    <a:pt x="12337" y="21535"/>
                    <a:pt x="12449" y="21523"/>
                    <a:pt x="12557" y="21510"/>
                  </a:cubicBezTo>
                  <a:cubicBezTo>
                    <a:pt x="11832" y="20830"/>
                    <a:pt x="11266" y="20009"/>
                    <a:pt x="10921" y="19113"/>
                  </a:cubicBezTo>
                  <a:cubicBezTo>
                    <a:pt x="13067" y="18883"/>
                    <a:pt x="15151" y="17972"/>
                    <a:pt x="16796" y="16368"/>
                  </a:cubicBezTo>
                  <a:cubicBezTo>
                    <a:pt x="20638" y="12624"/>
                    <a:pt x="20638" y="6553"/>
                    <a:pt x="16796" y="2808"/>
                  </a:cubicBezTo>
                  <a:cubicBezTo>
                    <a:pt x="14875" y="936"/>
                    <a:pt x="12357" y="0"/>
                    <a:pt x="98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1" name="îṥļîḑé-Freeform: Shape 17"/>
            <p:cNvSpPr/>
            <p:nvPr/>
          </p:nvSpPr>
          <p:spPr bwMode="auto">
            <a:xfrm>
              <a:off x="7177593" y="3805414"/>
              <a:ext cx="2814819" cy="141507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zh-CN" altLang="zh-CN" sz="1400" dirty="0">
                  <a:solidFill>
                    <a:srgbClr val="FFFFFF"/>
                  </a:solidFill>
                  <a:ea typeface="锐字工房云字库细圆GBK" panose="02010604000000000000" pitchFamily="2" charset="-122"/>
                  <a:cs typeface="+mn-ea"/>
                </a:rPr>
                <a:t>透明度被系统化为</a:t>
              </a:r>
              <a:endParaRPr lang="en-US" altLang="zh-CN" sz="1400" dirty="0">
                <a:solidFill>
                  <a:srgbClr val="FFFFFF"/>
                </a:solidFill>
                <a:ea typeface="锐字工房云字库细圆GBK" panose="02010604000000000000" pitchFamily="2" charset="-122"/>
                <a:cs typeface="+mn-ea"/>
              </a:endParaRPr>
            </a:p>
            <a:p>
              <a:pPr algn="ctr"/>
              <a:r>
                <a:rPr lang="zh-CN" altLang="zh-CN" sz="1400" dirty="0">
                  <a:solidFill>
                    <a:srgbClr val="FFFFFF"/>
                  </a:solidFill>
                  <a:ea typeface="锐字工房云字库细圆GBK" panose="02010604000000000000" pitchFamily="2" charset="-122"/>
                  <a:cs typeface="+mn-ea"/>
                </a:rPr>
                <a:t>“可设计的层级模型”</a:t>
              </a:r>
              <a:endParaRPr lang="id-ID" sz="1400" dirty="0">
                <a:solidFill>
                  <a:srgbClr val="FFFFFF"/>
                </a:solidFill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2" name="îṥļîḑé-Freeform: Shape 18"/>
            <p:cNvSpPr/>
            <p:nvPr/>
          </p:nvSpPr>
          <p:spPr bwMode="auto">
            <a:xfrm>
              <a:off x="9636533" y="5387492"/>
              <a:ext cx="2720569" cy="1936533"/>
            </a:xfrm>
            <a:custGeom>
              <a:avLst/>
              <a:gdLst>
                <a:gd name="T0" fmla="+- 0 10800 961"/>
                <a:gd name="T1" fmla="*/ T0 w 19679"/>
                <a:gd name="T2" fmla="*/ 10770 h 21541"/>
                <a:gd name="T3" fmla="+- 0 10800 961"/>
                <a:gd name="T4" fmla="*/ T3 w 19679"/>
                <a:gd name="T5" fmla="*/ 10770 h 21541"/>
                <a:gd name="T6" fmla="+- 0 10800 961"/>
                <a:gd name="T7" fmla="*/ T6 w 19679"/>
                <a:gd name="T8" fmla="*/ 10770 h 21541"/>
                <a:gd name="T9" fmla="+- 0 10800 961"/>
                <a:gd name="T10" fmla="*/ T9 w 19679"/>
                <a:gd name="T11" fmla="*/ 10770 h 21541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9679" h="21541">
                  <a:moveTo>
                    <a:pt x="9839" y="0"/>
                  </a:moveTo>
                  <a:cubicBezTo>
                    <a:pt x="7320" y="0"/>
                    <a:pt x="4802" y="936"/>
                    <a:pt x="2881" y="2808"/>
                  </a:cubicBezTo>
                  <a:cubicBezTo>
                    <a:pt x="-961" y="6553"/>
                    <a:pt x="-961" y="12624"/>
                    <a:pt x="2881" y="16368"/>
                  </a:cubicBezTo>
                  <a:cubicBezTo>
                    <a:pt x="4235" y="17687"/>
                    <a:pt x="5883" y="18532"/>
                    <a:pt x="7620" y="18921"/>
                  </a:cubicBezTo>
                  <a:cubicBezTo>
                    <a:pt x="8538" y="20485"/>
                    <a:pt x="10394" y="21599"/>
                    <a:pt x="12225" y="21538"/>
                  </a:cubicBezTo>
                  <a:cubicBezTo>
                    <a:pt x="12337" y="21535"/>
                    <a:pt x="12449" y="21523"/>
                    <a:pt x="12557" y="21510"/>
                  </a:cubicBezTo>
                  <a:cubicBezTo>
                    <a:pt x="11832" y="20830"/>
                    <a:pt x="11266" y="20009"/>
                    <a:pt x="10921" y="19113"/>
                  </a:cubicBezTo>
                  <a:cubicBezTo>
                    <a:pt x="13067" y="18883"/>
                    <a:pt x="15151" y="17972"/>
                    <a:pt x="16796" y="16368"/>
                  </a:cubicBezTo>
                  <a:cubicBezTo>
                    <a:pt x="20639" y="12624"/>
                    <a:pt x="20638" y="6553"/>
                    <a:pt x="16796" y="2808"/>
                  </a:cubicBezTo>
                  <a:cubicBezTo>
                    <a:pt x="14875" y="936"/>
                    <a:pt x="12357" y="0"/>
                    <a:pt x="98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3" name="îṥļîḑé-Freeform: Shape 19"/>
            <p:cNvSpPr/>
            <p:nvPr/>
          </p:nvSpPr>
          <p:spPr bwMode="auto">
            <a:xfrm>
              <a:off x="9920676" y="5447901"/>
              <a:ext cx="2082785" cy="168037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zh-CN" altLang="zh-CN" sz="1400" dirty="0">
                  <a:solidFill>
                    <a:srgbClr val="FFFFFF"/>
                  </a:solidFill>
                  <a:ea typeface="锐字工房云字库细圆GBK" panose="02010604000000000000" pitchFamily="2" charset="-122"/>
                  <a:cs typeface="+mn-ea"/>
                </a:rPr>
                <a:t>从“展示信息”</a:t>
              </a:r>
              <a:endParaRPr lang="en-US" altLang="zh-CN" sz="1400" dirty="0">
                <a:solidFill>
                  <a:srgbClr val="FFFFFF"/>
                </a:solidFill>
                <a:ea typeface="锐字工房云字库细圆GBK" panose="02010604000000000000" pitchFamily="2" charset="-122"/>
                <a:cs typeface="+mn-ea"/>
              </a:endParaRPr>
            </a:p>
            <a:p>
              <a:pPr algn="ctr"/>
              <a:r>
                <a:rPr lang="zh-CN" altLang="zh-CN" sz="1400" dirty="0">
                  <a:solidFill>
                    <a:srgbClr val="FFFFFF"/>
                  </a:solidFill>
                  <a:ea typeface="锐字工房云字库细圆GBK" panose="02010604000000000000" pitchFamily="2" charset="-122"/>
                  <a:cs typeface="+mn-ea"/>
                </a:rPr>
                <a:t>转向“验证透明度</a:t>
              </a:r>
              <a:endParaRPr lang="en-US" altLang="zh-CN" sz="1400" dirty="0">
                <a:solidFill>
                  <a:srgbClr val="FFFFFF"/>
                </a:solidFill>
                <a:ea typeface="锐字工房云字库细圆GBK" panose="02010604000000000000" pitchFamily="2" charset="-122"/>
                <a:cs typeface="+mn-ea"/>
              </a:endParaRPr>
            </a:p>
            <a:p>
              <a:pPr algn="ctr"/>
              <a:r>
                <a:rPr lang="zh-CN" altLang="zh-CN" sz="1400" dirty="0">
                  <a:solidFill>
                    <a:srgbClr val="FFFFFF"/>
                  </a:solidFill>
                  <a:ea typeface="锐字工房云字库细圆GBK" panose="02010604000000000000" pitchFamily="2" charset="-122"/>
                  <a:cs typeface="+mn-ea"/>
                </a:rPr>
                <a:t>是否真的有用”</a:t>
              </a:r>
              <a:endParaRPr lang="id-ID" sz="1400" dirty="0">
                <a:solidFill>
                  <a:srgbClr val="FFFFFF"/>
                </a:solidFill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4" name="îṥļîḑé-Freeform: Shape 20"/>
            <p:cNvSpPr/>
            <p:nvPr/>
          </p:nvSpPr>
          <p:spPr bwMode="auto">
            <a:xfrm>
              <a:off x="11604818" y="3961195"/>
              <a:ext cx="2958712" cy="2198306"/>
            </a:xfrm>
            <a:custGeom>
              <a:avLst/>
              <a:gdLst>
                <a:gd name="T0" fmla="+- 0 10800 961"/>
                <a:gd name="T1" fmla="*/ T0 w 19679"/>
                <a:gd name="T2" fmla="*/ 10770 h 21541"/>
                <a:gd name="T3" fmla="+- 0 10800 961"/>
                <a:gd name="T4" fmla="*/ T3 w 19679"/>
                <a:gd name="T5" fmla="*/ 10770 h 21541"/>
                <a:gd name="T6" fmla="+- 0 10800 961"/>
                <a:gd name="T7" fmla="*/ T6 w 19679"/>
                <a:gd name="T8" fmla="*/ 10770 h 21541"/>
                <a:gd name="T9" fmla="+- 0 10800 961"/>
                <a:gd name="T10" fmla="*/ T9 w 19679"/>
                <a:gd name="T11" fmla="*/ 10770 h 21541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9679" h="21541">
                  <a:moveTo>
                    <a:pt x="9839" y="0"/>
                  </a:moveTo>
                  <a:cubicBezTo>
                    <a:pt x="7320" y="0"/>
                    <a:pt x="4802" y="936"/>
                    <a:pt x="2881" y="2808"/>
                  </a:cubicBezTo>
                  <a:cubicBezTo>
                    <a:pt x="-961" y="6553"/>
                    <a:pt x="-961" y="12624"/>
                    <a:pt x="2881" y="16368"/>
                  </a:cubicBezTo>
                  <a:cubicBezTo>
                    <a:pt x="4235" y="17687"/>
                    <a:pt x="5883" y="18532"/>
                    <a:pt x="7620" y="18921"/>
                  </a:cubicBezTo>
                  <a:cubicBezTo>
                    <a:pt x="8538" y="20485"/>
                    <a:pt x="10394" y="21599"/>
                    <a:pt x="12225" y="21538"/>
                  </a:cubicBezTo>
                  <a:cubicBezTo>
                    <a:pt x="12337" y="21535"/>
                    <a:pt x="12449" y="21523"/>
                    <a:pt x="12557" y="21510"/>
                  </a:cubicBezTo>
                  <a:cubicBezTo>
                    <a:pt x="11832" y="20830"/>
                    <a:pt x="11266" y="20009"/>
                    <a:pt x="10921" y="19113"/>
                  </a:cubicBezTo>
                  <a:cubicBezTo>
                    <a:pt x="13067" y="18883"/>
                    <a:pt x="15151" y="17972"/>
                    <a:pt x="16796" y="16368"/>
                  </a:cubicBezTo>
                  <a:cubicBezTo>
                    <a:pt x="20639" y="12624"/>
                    <a:pt x="20638" y="6553"/>
                    <a:pt x="16796" y="2808"/>
                  </a:cubicBezTo>
                  <a:cubicBezTo>
                    <a:pt x="14875" y="936"/>
                    <a:pt x="12357" y="0"/>
                    <a:pt x="98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5" name="îṥļîḑé-Freeform: Shape 21"/>
            <p:cNvSpPr/>
            <p:nvPr/>
          </p:nvSpPr>
          <p:spPr bwMode="auto">
            <a:xfrm>
              <a:off x="11844375" y="4199958"/>
              <a:ext cx="2466590" cy="141145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zh-CN" altLang="zh-CN" sz="1400" dirty="0">
                  <a:solidFill>
                    <a:srgbClr val="FFFFFF"/>
                  </a:solidFill>
                  <a:ea typeface="锐字工房云字库细圆GBK" panose="02010604000000000000" pitchFamily="2" charset="-122"/>
                  <a:cs typeface="+mn-ea"/>
                </a:rPr>
                <a:t>从“提高信任”转向</a:t>
              </a:r>
              <a:endParaRPr lang="en-US" altLang="zh-CN" sz="1400" dirty="0">
                <a:solidFill>
                  <a:srgbClr val="FFFFFF"/>
                </a:solidFill>
                <a:ea typeface="锐字工房云字库细圆GBK" panose="02010604000000000000" pitchFamily="2" charset="-122"/>
                <a:cs typeface="+mn-ea"/>
              </a:endParaRPr>
            </a:p>
            <a:p>
              <a:pPr algn="ctr"/>
              <a:r>
                <a:rPr lang="zh-CN" altLang="zh-CN" sz="1400" dirty="0">
                  <a:solidFill>
                    <a:srgbClr val="FFFFFF"/>
                  </a:solidFill>
                  <a:ea typeface="锐字工房云字库细圆GBK" panose="02010604000000000000" pitchFamily="2" charset="-122"/>
                  <a:cs typeface="+mn-ea"/>
                </a:rPr>
                <a:t>“校准信任和适时干预”</a:t>
              </a:r>
              <a:endParaRPr lang="id-ID" sz="1400" dirty="0">
                <a:solidFill>
                  <a:srgbClr val="FFFFFF"/>
                </a:solidFill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6" name="îṥļîḑé-Freeform: Shape 22"/>
            <p:cNvSpPr/>
            <p:nvPr/>
          </p:nvSpPr>
          <p:spPr bwMode="auto">
            <a:xfrm>
              <a:off x="14071405" y="5188936"/>
              <a:ext cx="2903733" cy="2198306"/>
            </a:xfrm>
            <a:custGeom>
              <a:avLst/>
              <a:gdLst>
                <a:gd name="T0" fmla="+- 0 10800 961"/>
                <a:gd name="T1" fmla="*/ T0 w 19679"/>
                <a:gd name="T2" fmla="*/ 10770 h 21541"/>
                <a:gd name="T3" fmla="+- 0 10800 961"/>
                <a:gd name="T4" fmla="*/ T3 w 19679"/>
                <a:gd name="T5" fmla="*/ 10770 h 21541"/>
                <a:gd name="T6" fmla="+- 0 10800 961"/>
                <a:gd name="T7" fmla="*/ T6 w 19679"/>
                <a:gd name="T8" fmla="*/ 10770 h 21541"/>
                <a:gd name="T9" fmla="+- 0 10800 961"/>
                <a:gd name="T10" fmla="*/ T9 w 19679"/>
                <a:gd name="T11" fmla="*/ 10770 h 21541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9679" h="21541">
                  <a:moveTo>
                    <a:pt x="9839" y="0"/>
                  </a:moveTo>
                  <a:cubicBezTo>
                    <a:pt x="7320" y="0"/>
                    <a:pt x="4802" y="936"/>
                    <a:pt x="2881" y="2808"/>
                  </a:cubicBezTo>
                  <a:cubicBezTo>
                    <a:pt x="-961" y="6553"/>
                    <a:pt x="-961" y="12624"/>
                    <a:pt x="2881" y="16368"/>
                  </a:cubicBezTo>
                  <a:cubicBezTo>
                    <a:pt x="4235" y="17687"/>
                    <a:pt x="5883" y="18532"/>
                    <a:pt x="7620" y="18921"/>
                  </a:cubicBezTo>
                  <a:cubicBezTo>
                    <a:pt x="8538" y="20485"/>
                    <a:pt x="10394" y="21599"/>
                    <a:pt x="12225" y="21538"/>
                  </a:cubicBezTo>
                  <a:cubicBezTo>
                    <a:pt x="12337" y="21535"/>
                    <a:pt x="12449" y="21523"/>
                    <a:pt x="12557" y="21510"/>
                  </a:cubicBezTo>
                  <a:cubicBezTo>
                    <a:pt x="11832" y="20830"/>
                    <a:pt x="11266" y="20009"/>
                    <a:pt x="10921" y="19113"/>
                  </a:cubicBezTo>
                  <a:cubicBezTo>
                    <a:pt x="13067" y="18883"/>
                    <a:pt x="15151" y="17972"/>
                    <a:pt x="16796" y="16368"/>
                  </a:cubicBezTo>
                  <a:cubicBezTo>
                    <a:pt x="20639" y="12624"/>
                    <a:pt x="20638" y="6553"/>
                    <a:pt x="16796" y="2808"/>
                  </a:cubicBezTo>
                  <a:cubicBezTo>
                    <a:pt x="14875" y="936"/>
                    <a:pt x="12357" y="0"/>
                    <a:pt x="98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7" name="îṥļîḑé-Freeform: Shape 23"/>
            <p:cNvSpPr/>
            <p:nvPr/>
          </p:nvSpPr>
          <p:spPr bwMode="auto">
            <a:xfrm>
              <a:off x="14499993" y="5681859"/>
              <a:ext cx="2290567" cy="10656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zh-CN" altLang="zh-CN" sz="1400" dirty="0">
                  <a:solidFill>
                    <a:srgbClr val="FFFFFF"/>
                  </a:solidFill>
                  <a:ea typeface="锐字工房云字库细圆GBK" panose="02010604000000000000" pitchFamily="2" charset="-122"/>
                  <a:cs typeface="+mn-ea"/>
                </a:rPr>
                <a:t>从“单 Agent 解释”</a:t>
              </a:r>
              <a:endParaRPr lang="en-US" altLang="zh-CN" sz="1400" dirty="0">
                <a:solidFill>
                  <a:srgbClr val="FFFFFF"/>
                </a:solidFill>
                <a:ea typeface="锐字工房云字库细圆GBK" panose="02010604000000000000" pitchFamily="2" charset="-122"/>
                <a:cs typeface="+mn-ea"/>
              </a:endParaRPr>
            </a:p>
            <a:p>
              <a:pPr algn="ctr"/>
              <a:r>
                <a:rPr lang="zh-CN" altLang="zh-CN" sz="1400" dirty="0">
                  <a:solidFill>
                    <a:srgbClr val="FFFFFF"/>
                  </a:solidFill>
                  <a:ea typeface="锐字工房云字库细圆GBK" panose="02010604000000000000" pitchFamily="2" charset="-122"/>
                  <a:cs typeface="+mn-ea"/>
                </a:rPr>
                <a:t>转向“多 Agent </a:t>
              </a:r>
              <a:endParaRPr lang="en-US" altLang="zh-CN" sz="1400" dirty="0">
                <a:solidFill>
                  <a:srgbClr val="FFFFFF"/>
                </a:solidFill>
                <a:ea typeface="锐字工房云字库细圆GBK" panose="02010604000000000000" pitchFamily="2" charset="-122"/>
                <a:cs typeface="+mn-ea"/>
              </a:endParaRPr>
            </a:p>
            <a:p>
              <a:pPr algn="ctr"/>
              <a:r>
                <a:rPr lang="zh-CN" altLang="zh-CN" sz="1400" dirty="0">
                  <a:solidFill>
                    <a:srgbClr val="FFFFFF"/>
                  </a:solidFill>
                  <a:ea typeface="锐字工房云字库细圆GBK" panose="02010604000000000000" pitchFamily="2" charset="-122"/>
                  <a:cs typeface="+mn-ea"/>
                </a:rPr>
                <a:t>协作过程透明”</a:t>
              </a:r>
              <a:endParaRPr lang="id-ID" sz="1400" dirty="0">
                <a:solidFill>
                  <a:srgbClr val="FFFFFF"/>
                </a:solidFill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8" name="îṥļîḑé-Freeform: Shape 24"/>
            <p:cNvSpPr/>
            <p:nvPr/>
          </p:nvSpPr>
          <p:spPr bwMode="auto">
            <a:xfrm>
              <a:off x="17196378" y="4753508"/>
              <a:ext cx="2984926" cy="1856702"/>
            </a:xfrm>
            <a:custGeom>
              <a:avLst/>
              <a:gdLst>
                <a:gd name="T0" fmla="+- 0 10800 961"/>
                <a:gd name="T1" fmla="*/ T0 w 19679"/>
                <a:gd name="T2" fmla="*/ 10770 h 21541"/>
                <a:gd name="T3" fmla="+- 0 10800 961"/>
                <a:gd name="T4" fmla="*/ T3 w 19679"/>
                <a:gd name="T5" fmla="*/ 10770 h 21541"/>
                <a:gd name="T6" fmla="+- 0 10800 961"/>
                <a:gd name="T7" fmla="*/ T6 w 19679"/>
                <a:gd name="T8" fmla="*/ 10770 h 21541"/>
                <a:gd name="T9" fmla="+- 0 10800 961"/>
                <a:gd name="T10" fmla="*/ T9 w 19679"/>
                <a:gd name="T11" fmla="*/ 10770 h 21541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9679" h="21541">
                  <a:moveTo>
                    <a:pt x="9839" y="0"/>
                  </a:moveTo>
                  <a:cubicBezTo>
                    <a:pt x="7320" y="0"/>
                    <a:pt x="4802" y="936"/>
                    <a:pt x="2881" y="2808"/>
                  </a:cubicBezTo>
                  <a:cubicBezTo>
                    <a:pt x="-961" y="6553"/>
                    <a:pt x="-961" y="12624"/>
                    <a:pt x="2881" y="16368"/>
                  </a:cubicBezTo>
                  <a:cubicBezTo>
                    <a:pt x="4235" y="17687"/>
                    <a:pt x="5883" y="18532"/>
                    <a:pt x="7620" y="18921"/>
                  </a:cubicBezTo>
                  <a:cubicBezTo>
                    <a:pt x="8538" y="20485"/>
                    <a:pt x="10394" y="21599"/>
                    <a:pt x="12225" y="21538"/>
                  </a:cubicBezTo>
                  <a:cubicBezTo>
                    <a:pt x="12337" y="21535"/>
                    <a:pt x="12449" y="21523"/>
                    <a:pt x="12557" y="21510"/>
                  </a:cubicBezTo>
                  <a:cubicBezTo>
                    <a:pt x="11832" y="20830"/>
                    <a:pt x="11266" y="20009"/>
                    <a:pt x="10921" y="19113"/>
                  </a:cubicBezTo>
                  <a:cubicBezTo>
                    <a:pt x="13067" y="18883"/>
                    <a:pt x="15151" y="17972"/>
                    <a:pt x="16796" y="16368"/>
                  </a:cubicBezTo>
                  <a:cubicBezTo>
                    <a:pt x="20639" y="12624"/>
                    <a:pt x="20638" y="6553"/>
                    <a:pt x="16796" y="2808"/>
                  </a:cubicBezTo>
                  <a:cubicBezTo>
                    <a:pt x="14875" y="936"/>
                    <a:pt x="12357" y="0"/>
                    <a:pt x="98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锐字工房云字库细圆GBK" panose="02010604000000000000" pitchFamily="2" charset="-122"/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9" name="îṥļîḑé-Freeform: Shape 25"/>
            <p:cNvSpPr/>
            <p:nvPr/>
          </p:nvSpPr>
          <p:spPr bwMode="auto">
            <a:xfrm>
              <a:off x="17602197" y="5085707"/>
              <a:ext cx="2173286" cy="84497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 fontScale="92500" lnSpcReduction="20000"/>
            </a:bodyPr>
            <a:lstStyle/>
            <a:p>
              <a:pPr algn="ctr"/>
              <a:endParaRPr lang="en-US" altLang="zh-CN" sz="1400" dirty="0">
                <a:solidFill>
                  <a:srgbClr val="FFFFFF"/>
                </a:solidFill>
                <a:ea typeface="锐字工房云字库细圆GBK" panose="02010604000000000000" pitchFamily="2" charset="-122"/>
                <a:cs typeface="+mn-ea"/>
              </a:endParaRPr>
            </a:p>
            <a:p>
              <a:pPr algn="ctr"/>
              <a:r>
                <a:rPr lang="zh-CN" altLang="zh-CN" sz="1500" dirty="0">
                  <a:solidFill>
                    <a:srgbClr val="FFFFFF"/>
                  </a:solidFill>
                  <a:ea typeface="锐字工房云字库细圆GBK" panose="02010604000000000000" pitchFamily="2" charset="-122"/>
                  <a:cs typeface="+mn-ea"/>
                </a:rPr>
                <a:t>从过程可见转向</a:t>
              </a:r>
              <a:endParaRPr lang="en-US" altLang="zh-CN" sz="1500" dirty="0">
                <a:solidFill>
                  <a:srgbClr val="FFFFFF"/>
                </a:solidFill>
                <a:ea typeface="锐字工房云字库细圆GBK" panose="02010604000000000000" pitchFamily="2" charset="-122"/>
                <a:cs typeface="+mn-ea"/>
              </a:endParaRPr>
            </a:p>
            <a:p>
              <a:pPr algn="ctr"/>
              <a:r>
                <a:rPr lang="zh-CN" altLang="zh-CN" sz="1500" dirty="0">
                  <a:solidFill>
                    <a:srgbClr val="FFFFFF"/>
                  </a:solidFill>
                  <a:ea typeface="锐字工房云字库细圆GBK" panose="02010604000000000000" pitchFamily="2" charset="-122"/>
                  <a:cs typeface="+mn-ea"/>
                </a:rPr>
                <a:t>自适应监督</a:t>
              </a:r>
              <a:endParaRPr lang="id-ID" sz="1500" dirty="0">
                <a:solidFill>
                  <a:srgbClr val="FFFFFF"/>
                </a:solidFill>
                <a:ea typeface="锐字工房云字库细圆GBK" panose="02010604000000000000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0" y="161931"/>
            <a:ext cx="11940390" cy="456069"/>
            <a:chOff x="0" y="161931"/>
            <a:chExt cx="11940390" cy="456069"/>
          </a:xfrm>
        </p:grpSpPr>
        <p:grpSp>
          <p:nvGrpSpPr>
            <p:cNvPr id="41" name="组合 40"/>
            <p:cNvGrpSpPr/>
            <p:nvPr/>
          </p:nvGrpSpPr>
          <p:grpSpPr>
            <a:xfrm>
              <a:off x="0" y="202277"/>
              <a:ext cx="9666514" cy="375920"/>
              <a:chOff x="0" y="294640"/>
              <a:chExt cx="9666514" cy="375920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0" y="294640"/>
                <a:ext cx="880552" cy="375920"/>
                <a:chOff x="0" y="294640"/>
                <a:chExt cx="1094740" cy="467360"/>
              </a:xfrm>
              <a:solidFill>
                <a:srgbClr val="EE8A10"/>
              </a:solidFill>
            </p:grpSpPr>
            <p:sp>
              <p:nvSpPr>
                <p:cNvPr id="52" name="燕尾形 11"/>
                <p:cNvSpPr/>
                <p:nvPr/>
              </p:nvSpPr>
              <p:spPr>
                <a:xfrm>
                  <a:off x="416560" y="294640"/>
                  <a:ext cx="375920" cy="467360"/>
                </a:xfrm>
                <a:prstGeom prst="chevron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" name="燕尾形 12"/>
                <p:cNvSpPr/>
                <p:nvPr/>
              </p:nvSpPr>
              <p:spPr>
                <a:xfrm>
                  <a:off x="718820" y="294640"/>
                  <a:ext cx="375920" cy="467360"/>
                </a:xfrm>
                <a:prstGeom prst="chevron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五边形 13"/>
                <p:cNvSpPr/>
                <p:nvPr/>
              </p:nvSpPr>
              <p:spPr>
                <a:xfrm>
                  <a:off x="0" y="294640"/>
                  <a:ext cx="518160" cy="467360"/>
                </a:xfrm>
                <a:prstGeom prst="homePlat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4" name="文本框 43"/>
              <p:cNvSpPr txBox="1"/>
              <p:nvPr/>
            </p:nvSpPr>
            <p:spPr>
              <a:xfrm>
                <a:off x="798830" y="307373"/>
                <a:ext cx="34776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 spc="600" dirty="0"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</a:rPr>
                  <a:t>学术界的代表性研究</a:t>
                </a:r>
                <a:endParaRPr lang="zh-CN" altLang="en-US" sz="1600" b="1" spc="600" dirty="0">
                  <a:latin typeface="锐字工房云字库细圆GBK" panose="02010604000000000000" pitchFamily="2" charset="-122"/>
                  <a:ea typeface="锐字工房云字库细圆GBK" panose="02010604000000000000" pitchFamily="2" charset="-122"/>
                </a:endParaRPr>
              </a:p>
            </p:txBody>
          </p:sp>
          <p:grpSp>
            <p:nvGrpSpPr>
              <p:cNvPr id="45" name="组合 44"/>
              <p:cNvGrpSpPr/>
              <p:nvPr/>
            </p:nvGrpSpPr>
            <p:grpSpPr>
              <a:xfrm>
                <a:off x="3356076" y="408709"/>
                <a:ext cx="1749361" cy="147782"/>
                <a:chOff x="635462" y="775854"/>
                <a:chExt cx="1749361" cy="147782"/>
              </a:xfrm>
              <a:solidFill>
                <a:srgbClr val="EE8A10"/>
              </a:solidFill>
            </p:grpSpPr>
            <p:sp>
              <p:nvSpPr>
                <p:cNvPr id="47" name="椭圆 46"/>
                <p:cNvSpPr/>
                <p:nvPr/>
              </p:nvSpPr>
              <p:spPr>
                <a:xfrm>
                  <a:off x="635462" y="775855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8" name="椭圆 47"/>
                <p:cNvSpPr/>
                <p:nvPr/>
              </p:nvSpPr>
              <p:spPr>
                <a:xfrm>
                  <a:off x="1036319" y="775854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>
                  <a:off x="1437176" y="775855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>
                  <a:off x="1836185" y="775854"/>
                  <a:ext cx="147781" cy="147781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2237042" y="775854"/>
                  <a:ext cx="147781" cy="147781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46" name="直接连接符 45"/>
              <p:cNvCxnSpPr/>
              <p:nvPr/>
            </p:nvCxnSpPr>
            <p:spPr>
              <a:xfrm>
                <a:off x="5212080" y="477520"/>
                <a:ext cx="4454434" cy="0"/>
              </a:xfrm>
              <a:prstGeom prst="line">
                <a:avLst/>
              </a:prstGeom>
              <a:ln w="317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65508" y="161931"/>
              <a:ext cx="2174882" cy="45606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077685" y="16715"/>
          <a:ext cx="7485744" cy="68100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3920"/>
                <a:gridCol w="2495993"/>
                <a:gridCol w="3255831"/>
              </a:tblGrid>
              <a:tr h="231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 dirty="0"/>
                        <a:t>论文</a:t>
                      </a:r>
                      <a:endParaRPr lang="zh-CN" sz="1400" b="1" dirty="0"/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 dirty="0"/>
                        <a:t>解决了什么</a:t>
                      </a:r>
                      <a:endParaRPr lang="zh-CN" sz="1400" b="1" dirty="0"/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 dirty="0"/>
                        <a:t>还有什么不足</a:t>
                      </a:r>
                      <a:endParaRPr lang="zh-CN" sz="1400" b="1" dirty="0"/>
                    </a:p>
                  </a:txBody>
                  <a:tcPr marL="26372" marR="26372" marT="13186" marB="13186" anchor="ctr"/>
                </a:tc>
              </a:tr>
              <a:tr h="673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00" dirty="0"/>
                        <a:t>Horvitz (1999) </a:t>
                      </a:r>
                      <a:br>
                        <a:rPr lang="zh-CN" sz="1000" dirty="0"/>
                      </a:br>
                      <a:r>
                        <a:rPr lang="zh-CN" sz="1000" dirty="0"/>
                        <a:t>Mixed-Initiative Interaction</a:t>
                      </a:r>
                      <a:endParaRPr lang="zh-CN" sz="1000" dirty="0"/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提出混合主动式交互，认为人和智能体都可以在合适时机主动发起行动，将“完全自动化”和“用户逐步操控”统一到同一协作框架中。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100" dirty="0"/>
                        <a:t>主要是概念和设计原则，缺少对多 Agent 角色分工、冲突协商和过程日志的具体研究。</a:t>
                      </a:r>
                      <a:endParaRPr lang="zh-CN" sz="1100" dirty="0"/>
                    </a:p>
                  </a:txBody>
                  <a:tcPr marL="26372" marR="26372" marT="13186" marB="13186" anchor="ctr"/>
                </a:tc>
              </a:tr>
              <a:tr h="827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Chen et al. (2014) </a:t>
                      </a:r>
                      <a:b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Situation Awareness-Based Agent Transparency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提出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SAT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透明度模型，将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透明度划分为三个层次：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正在做什么、为什么这样做、接下来可能发生什么。将透明度转化为可通过界面设计实现的具体信息。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模型主要面向机器人和无人系统，透明度层级相对固定，对多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之间的信息传递和意见冲突关注不足。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</a:tr>
              <a:tr h="674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Selkowitz et al. (2017) </a:t>
                      </a:r>
                      <a:b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Using Agent Transparency to Support Situation Awareness of the Autonomous Squad Member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通过用户实验检验不同透明度界面对用户情境感知、信任、任务表现和工作负荷的影响，说明过程信息确实会影响人机协作效果。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研究主要针对单个自主机器人，且透明度提高可能增加用户认知负担。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</a:tr>
              <a:tr h="771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Bansal et al. (2019) </a:t>
                      </a:r>
                      <a:b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Beyond Accuracy: The Role of Mental Models in Human-AI Team Performance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指出人机协作效果不只取决于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准确率，还取决于用户是否理解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的能力边界和错误边界。用户只有知道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什么时候容易出错，才能决定是否接受或拒绝其建议。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主要研究单个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向人提供建议的场景，没有涉及多个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的专业差异和意见冲突。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</a:tr>
              <a:tr h="834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Wohleber et al. (2023) </a:t>
                      </a:r>
                      <a:b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 Transparency in Mixed-Initiative Multi-UxV Control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在多无人系统协作场景中研究透明度的表达方式，发现语言、图形和图标等不同表达方式会影响用户的信任校准、依赖策略和任务表现。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研究场景偏向专业控制和多无人机，结论能否迁移到普通用户的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LLM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多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系统仍不确定；展示过多信息也可能增加认知负担。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</a:tr>
              <a:tr h="834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Sreedharan et al. (2023) </a:t>
                      </a:r>
                      <a:b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Multi-Agent Strategy Explanations for Human-Robot Collaboration</a:t>
                      </a:r>
                      <a:endParaRPr lang="en-US" altLang="zh-CN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将解释对象从单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的决策扩展到多个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的协作策略，尝试说明不同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如何分工、如何共同完成任务以及为什么采取某种协作方案。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仍缺少统一的多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透明度评价指标，对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之间的消息传递、分歧来源和责任追踪研究不足。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</a:tr>
              <a:tr h="745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Zhao et al. (2025) </a:t>
                      </a:r>
                      <a:b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Uncertainty Propagation on LLM Agent</a:t>
                      </a:r>
                      <a:endParaRPr lang="en-US" altLang="zh-CN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关注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LLM Agent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在多步推理和工具调用过程中不确定性逐步累积的问题，尝试追踪每个步骤的不确定性，而不是只评估最终答案的置信度。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目前主要关注算法层面的不确定性估计，用户能否理解这些不确定性、如何根据风险进行干预，还需要进一步的人机交互研究。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</a:tr>
              <a:tr h="927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Kitano et al. (2026) </a:t>
                      </a:r>
                      <a:b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Managing Multi-Agent Research Systems: A Dashboard for Human Oversight of Coordinating AI Agents</a:t>
                      </a:r>
                      <a:endParaRPr lang="en-US" altLang="zh-CN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面向持续运行的多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系统，提出通过仪表盘展示事件流、任务状态、实验结果、过程日志和人工干预点，使用户能够异步监督多个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该研究主要是实际部署后的设计总结，尚缺少大规模、严格的对照实验。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563429" y="0"/>
          <a:ext cx="1810657" cy="68195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0657"/>
              </a:tblGrid>
              <a:tr h="238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 dirty="0"/>
                        <a:t>对本题启示</a:t>
                      </a:r>
                      <a:endParaRPr lang="zh-CN" sz="1400" b="1" dirty="0"/>
                    </a:p>
                  </a:txBody>
                  <a:tcPr marL="26372" marR="26372" marT="13186" marB="13186" anchor="ctr"/>
                </a:tc>
              </a:tr>
              <a:tr h="6933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100" dirty="0"/>
                        <a:t>需要研究什么情况下由 Agent 主动行动，什么情况下应等待或询问用户。</a:t>
                      </a:r>
                      <a:endParaRPr lang="zh-CN" sz="1100" dirty="0"/>
                    </a:p>
                  </a:txBody>
                  <a:tcPr marL="26372" marR="26372" marT="13186" marB="13186" anchor="ctr"/>
                </a:tc>
              </a:tr>
              <a:tr h="852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界面可以分别展示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状态、决策理由和未来计划。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</a:tr>
              <a:tr h="797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不能只比较“透明”和“不透明”，还应比较不同信息量和展示方式的效果。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</a:tr>
              <a:tr h="849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透明度的目标不是单纯提高信任，而是帮助用户形成正确判断并在必要时介入。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</a:tr>
              <a:tr h="860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应比较文字说明、流程图、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状态面板和日志回放等不同透明度形式。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</a:tr>
              <a:tr h="860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应重点展示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角色、任务分工、协作计划和冲突处理过程。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</a:tr>
              <a:tr h="711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除了展示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做了什么，还可以展示哪一步最不可靠、风险从哪里开始累积。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</a:tr>
              <a:tr h="955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未来用户不一定需要查看全部 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对话，而是需要异常提醒、关键节点确认、过程回放和高层次监督。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72" marR="26372" marT="13186" marB="13186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0" y="161931"/>
            <a:ext cx="11940390" cy="456069"/>
            <a:chOff x="0" y="161931"/>
            <a:chExt cx="11940390" cy="456069"/>
          </a:xfrm>
        </p:grpSpPr>
        <p:grpSp>
          <p:nvGrpSpPr>
            <p:cNvPr id="41" name="组合 40"/>
            <p:cNvGrpSpPr/>
            <p:nvPr/>
          </p:nvGrpSpPr>
          <p:grpSpPr>
            <a:xfrm>
              <a:off x="0" y="202277"/>
              <a:ext cx="9666514" cy="375920"/>
              <a:chOff x="0" y="294640"/>
              <a:chExt cx="9666514" cy="375920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0" y="294640"/>
                <a:ext cx="880552" cy="375920"/>
                <a:chOff x="0" y="294640"/>
                <a:chExt cx="1094740" cy="467360"/>
              </a:xfrm>
              <a:solidFill>
                <a:srgbClr val="EE8A10"/>
              </a:solidFill>
            </p:grpSpPr>
            <p:sp>
              <p:nvSpPr>
                <p:cNvPr id="52" name="燕尾形 11"/>
                <p:cNvSpPr/>
                <p:nvPr/>
              </p:nvSpPr>
              <p:spPr>
                <a:xfrm>
                  <a:off x="416560" y="294640"/>
                  <a:ext cx="375920" cy="467360"/>
                </a:xfrm>
                <a:prstGeom prst="chevron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" name="燕尾形 12"/>
                <p:cNvSpPr/>
                <p:nvPr/>
              </p:nvSpPr>
              <p:spPr>
                <a:xfrm>
                  <a:off x="718820" y="294640"/>
                  <a:ext cx="375920" cy="467360"/>
                </a:xfrm>
                <a:prstGeom prst="chevron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五边形 13"/>
                <p:cNvSpPr/>
                <p:nvPr/>
              </p:nvSpPr>
              <p:spPr>
                <a:xfrm>
                  <a:off x="0" y="294640"/>
                  <a:ext cx="518160" cy="467360"/>
                </a:xfrm>
                <a:prstGeom prst="homePlat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4" name="文本框 43"/>
              <p:cNvSpPr txBox="1"/>
              <p:nvPr/>
            </p:nvSpPr>
            <p:spPr>
              <a:xfrm>
                <a:off x="798830" y="307373"/>
                <a:ext cx="34776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 spc="600" dirty="0"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</a:rPr>
                  <a:t>学术界的代表性研究</a:t>
                </a:r>
                <a:endParaRPr lang="zh-CN" altLang="en-US" sz="1600" b="1" spc="600" dirty="0">
                  <a:latin typeface="锐字工房云字库细圆GBK" panose="02010604000000000000" pitchFamily="2" charset="-122"/>
                  <a:ea typeface="锐字工房云字库细圆GBK" panose="02010604000000000000" pitchFamily="2" charset="-122"/>
                </a:endParaRPr>
              </a:p>
            </p:txBody>
          </p:sp>
          <p:grpSp>
            <p:nvGrpSpPr>
              <p:cNvPr id="45" name="组合 44"/>
              <p:cNvGrpSpPr/>
              <p:nvPr/>
            </p:nvGrpSpPr>
            <p:grpSpPr>
              <a:xfrm>
                <a:off x="3356076" y="408709"/>
                <a:ext cx="1749361" cy="147782"/>
                <a:chOff x="635462" y="775854"/>
                <a:chExt cx="1749361" cy="147782"/>
              </a:xfrm>
              <a:solidFill>
                <a:srgbClr val="EE8A10"/>
              </a:solidFill>
            </p:grpSpPr>
            <p:sp>
              <p:nvSpPr>
                <p:cNvPr id="47" name="椭圆 46"/>
                <p:cNvSpPr/>
                <p:nvPr/>
              </p:nvSpPr>
              <p:spPr>
                <a:xfrm>
                  <a:off x="635462" y="775855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8" name="椭圆 47"/>
                <p:cNvSpPr/>
                <p:nvPr/>
              </p:nvSpPr>
              <p:spPr>
                <a:xfrm>
                  <a:off x="1036319" y="775854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>
                  <a:off x="1437176" y="775855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>
                  <a:off x="1836185" y="775854"/>
                  <a:ext cx="147781" cy="147781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2237042" y="775854"/>
                  <a:ext cx="147781" cy="147781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46" name="直接连接符 45"/>
              <p:cNvCxnSpPr/>
              <p:nvPr/>
            </p:nvCxnSpPr>
            <p:spPr>
              <a:xfrm>
                <a:off x="5212080" y="477520"/>
                <a:ext cx="4454434" cy="0"/>
              </a:xfrm>
              <a:prstGeom prst="line">
                <a:avLst/>
              </a:prstGeom>
              <a:ln w="317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65508" y="161931"/>
              <a:ext cx="2174882" cy="456069"/>
            </a:xfrm>
            <a:prstGeom prst="rect">
              <a:avLst/>
            </a:prstGeom>
          </p:spPr>
        </p:pic>
      </p:grpSp>
      <p:sp>
        <p:nvSpPr>
          <p:cNvPr id="3" name="文本框 2"/>
          <p:cNvSpPr txBox="1"/>
          <p:nvPr/>
        </p:nvSpPr>
        <p:spPr>
          <a:xfrm>
            <a:off x="1447837" y="1466007"/>
            <a:ext cx="9027886" cy="3306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400"/>
              </a:spcBef>
              <a:spcAft>
                <a:spcPts val="200"/>
              </a:spcAft>
              <a:buNone/>
            </a:pPr>
            <a:r>
              <a:rPr lang="zh-CN" altLang="zh-CN" sz="1800" b="1" i="0" dirty="0">
                <a:solidFill>
                  <a:schemeClr val="tx1"/>
                </a:solidFill>
                <a:effectLst/>
                <a:latin typeface="+mn-lt"/>
                <a:ea typeface="微软雅黑" panose="020B0503020204020204" pitchFamily="34" charset="-122"/>
              </a:rPr>
              <a:t>相关论文调研：过程透明度与用户介入</a:t>
            </a:r>
            <a:endParaRPr lang="zh-CN" altLang="zh-CN" sz="1800" b="0" i="0" dirty="0">
              <a:solidFill>
                <a:schemeClr val="tx1"/>
              </a:solidFill>
              <a:effectLst/>
              <a:latin typeface="+mn-lt"/>
              <a:ea typeface="微软雅黑" panose="020B0503020204020204" pitchFamily="34" charset="-122"/>
            </a:endParaRPr>
          </a:p>
          <a:p>
            <a:pPr marL="0" marR="0" indent="0" algn="l">
              <a:spcAft>
                <a:spcPts val="300"/>
              </a:spcAft>
              <a:buNone/>
            </a:pPr>
            <a:r>
              <a:rPr lang="zh-CN" altLang="zh-CN" sz="1800" i="0" dirty="0">
                <a:solidFill>
                  <a:schemeClr val="tx1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已有研究说明：多智能体系统的关键不只是“能否完成任务”，还包括用户能否理解系统正在做什么、为什么这样做，以及在关键节点能否介入。下面将“解决了什么”和“还有什么不足”直接对应到本题的 B 方向。</a:t>
            </a:r>
            <a:b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  <a:ea typeface="微软雅黑" panose="020B0503020204020204" pitchFamily="34" charset="-122"/>
              </a:rPr>
            </a:br>
            <a:endParaRPr lang="zh-CN" altLang="zh-CN" sz="1800" b="0" i="0" dirty="0">
              <a:solidFill>
                <a:schemeClr val="tx1"/>
              </a:solidFill>
              <a:effectLst/>
              <a:latin typeface="+mn-lt"/>
              <a:ea typeface="微软雅黑" panose="020B0503020204020204" pitchFamily="34" charset="-122"/>
            </a:endParaRPr>
          </a:p>
          <a:p>
            <a:pPr marL="0" marR="0" indent="0" algn="l">
              <a:spcBef>
                <a:spcPts val="300"/>
              </a:spcBef>
              <a:spcAft>
                <a:spcPts val="200"/>
              </a:spcAft>
              <a:buNone/>
            </a:pPr>
            <a:r>
              <a:rPr lang="zh-CN" altLang="zh-CN" sz="1800" b="1" i="0" dirty="0">
                <a:solidFill>
                  <a:schemeClr val="tx1"/>
                </a:solidFill>
                <a:effectLst/>
                <a:latin typeface="+mn-lt"/>
                <a:ea typeface="微软雅黑" panose="020B0503020204020204" pitchFamily="34" charset="-122"/>
              </a:rPr>
              <a:t>综合不足与可研究问题：</a:t>
            </a:r>
            <a:endParaRPr lang="en-US" altLang="zh-CN" sz="1800" b="1" i="0" dirty="0">
              <a:solidFill>
                <a:schemeClr val="tx1"/>
              </a:solidFill>
              <a:effectLst/>
              <a:latin typeface="+mn-lt"/>
              <a:ea typeface="微软雅黑" panose="020B0503020204020204" pitchFamily="34" charset="-122"/>
            </a:endParaRPr>
          </a:p>
          <a:p>
            <a:pPr marL="0" marR="0" indent="0" algn="l">
              <a:spcBef>
                <a:spcPts val="300"/>
              </a:spcBef>
              <a:spcAft>
                <a:spcPts val="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现有工作多在机器人、无人系统或单次决策任务中验证，较少同时比较“完全自动、关键节点确认、全程可见”三种模式，也较少把多 Agent 的角色分工、冲突协商和可回放日志放在同一实验中。因此，本题可重点比较三种界面条件，观察过程透明度如何影响任务成功率、干预次数、信任校准、NASA-TLX 和 SUS；同时检验“展示全部消息”是否真的优于“展示关键节点摘要”。</a:t>
            </a:r>
            <a:endParaRPr lang="zh-CN" altLang="zh-CN" sz="2000" b="0" i="0" dirty="0">
              <a:solidFill>
                <a:srgbClr val="000000"/>
              </a:solidFill>
              <a:effectLst/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407160"/>
            <a:ext cx="8001000" cy="404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0" y="713740"/>
            <a:ext cx="12192001" cy="4737100"/>
            <a:chOff x="0" y="713740"/>
            <a:chExt cx="12192001" cy="4737100"/>
          </a:xfrm>
        </p:grpSpPr>
        <p:grpSp>
          <p:nvGrpSpPr>
            <p:cNvPr id="26" name="组合 25"/>
            <p:cNvGrpSpPr/>
            <p:nvPr/>
          </p:nvGrpSpPr>
          <p:grpSpPr>
            <a:xfrm>
              <a:off x="0" y="1407160"/>
              <a:ext cx="4064000" cy="4043680"/>
              <a:chOff x="0" y="1407160"/>
              <a:chExt cx="4064000" cy="4043680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0" y="1407160"/>
                <a:ext cx="4064000" cy="404368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127000" y="2552462"/>
                <a:ext cx="3810000" cy="1568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4800" dirty="0">
                    <a:solidFill>
                      <a:schemeClr val="bg1"/>
                    </a:solidFill>
                    <a:latin typeface="造字工房力黑（非商用）常规体" pitchFamily="50" charset="-122"/>
                    <a:ea typeface="造字工房力黑（非商用）常规体" pitchFamily="50" charset="-122"/>
                    <a:cs typeface="+mn-ea"/>
                    <a:sym typeface="+mn-lt"/>
                  </a:rPr>
                  <a:t>产业与赛题调研</a:t>
                </a:r>
                <a:endParaRPr lang="zh-CN" altLang="en-US" sz="4800" dirty="0">
                  <a:solidFill>
                    <a:schemeClr val="bg1"/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7564229" y="713740"/>
              <a:ext cx="4627772" cy="1386840"/>
              <a:chOff x="7564229" y="713740"/>
              <a:chExt cx="4627772" cy="1386840"/>
            </a:xfrm>
          </p:grpSpPr>
          <p:sp>
            <p:nvSpPr>
              <p:cNvPr id="29" name="任意多边形 28"/>
              <p:cNvSpPr/>
              <p:nvPr/>
            </p:nvSpPr>
            <p:spPr>
              <a:xfrm flipH="1" flipV="1">
                <a:off x="7564229" y="713740"/>
                <a:ext cx="4627771" cy="1386840"/>
              </a:xfrm>
              <a:custGeom>
                <a:avLst/>
                <a:gdLst>
                  <a:gd name="connsiteX0" fmla="*/ 0 w 7147560"/>
                  <a:gd name="connsiteY0" fmla="*/ 0 h 2814320"/>
                  <a:gd name="connsiteX1" fmla="*/ 6443980 w 7147560"/>
                  <a:gd name="connsiteY1" fmla="*/ 0 h 2814320"/>
                  <a:gd name="connsiteX2" fmla="*/ 7147560 w 7147560"/>
                  <a:gd name="connsiteY2" fmla="*/ 2814320 h 2814320"/>
                  <a:gd name="connsiteX3" fmla="*/ 0 w 7147560"/>
                  <a:gd name="connsiteY3" fmla="*/ 2814320 h 2814320"/>
                  <a:gd name="connsiteX0-1" fmla="*/ 0 w 8689506"/>
                  <a:gd name="connsiteY0-2" fmla="*/ 0 h 2814320"/>
                  <a:gd name="connsiteX1-3" fmla="*/ 6443980 w 8689506"/>
                  <a:gd name="connsiteY1-4" fmla="*/ 0 h 2814320"/>
                  <a:gd name="connsiteX2-5" fmla="*/ 8689506 w 8689506"/>
                  <a:gd name="connsiteY2-6" fmla="*/ 2814320 h 2814320"/>
                  <a:gd name="connsiteX3-7" fmla="*/ 0 w 8689506"/>
                  <a:gd name="connsiteY3-8" fmla="*/ 2814320 h 2814320"/>
                  <a:gd name="connsiteX4" fmla="*/ 0 w 8689506"/>
                  <a:gd name="connsiteY4" fmla="*/ 0 h 2814320"/>
                  <a:gd name="connsiteX0-9" fmla="*/ 0 w 9235080"/>
                  <a:gd name="connsiteY0-10" fmla="*/ 0 h 2834640"/>
                  <a:gd name="connsiteX1-11" fmla="*/ 6443980 w 9235080"/>
                  <a:gd name="connsiteY1-12" fmla="*/ 0 h 2834640"/>
                  <a:gd name="connsiteX2-13" fmla="*/ 9235080 w 9235080"/>
                  <a:gd name="connsiteY2-14" fmla="*/ 2834640 h 2834640"/>
                  <a:gd name="connsiteX3-15" fmla="*/ 0 w 9235080"/>
                  <a:gd name="connsiteY3-16" fmla="*/ 2814320 h 2834640"/>
                  <a:gd name="connsiteX4-17" fmla="*/ 0 w 9235080"/>
                  <a:gd name="connsiteY4-18" fmla="*/ 0 h 283464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17" y="connsiteY4-18"/>
                  </a:cxn>
                </a:cxnLst>
                <a:rect l="l" t="t" r="r" b="b"/>
                <a:pathLst>
                  <a:path w="9235080" h="2834640">
                    <a:moveTo>
                      <a:pt x="0" y="0"/>
                    </a:moveTo>
                    <a:lnTo>
                      <a:pt x="6443980" y="0"/>
                    </a:lnTo>
                    <a:lnTo>
                      <a:pt x="9235080" y="2834640"/>
                    </a:lnTo>
                    <a:lnTo>
                      <a:pt x="0" y="2814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+mn-lt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7712365" y="991661"/>
                <a:ext cx="447963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4000" spc="300" dirty="0">
                    <a:solidFill>
                      <a:schemeClr val="bg1"/>
                    </a:solidFill>
                    <a:latin typeface="造字工房力黑（非商用）常规体" pitchFamily="50" charset="-122"/>
                    <a:ea typeface="造字工房力黑（非商用）常规体" pitchFamily="50" charset="-122"/>
                    <a:cs typeface="+mn-ea"/>
                    <a:sym typeface="+mn-lt"/>
                  </a:rPr>
                  <a:t>PART ONE</a:t>
                </a:r>
                <a:endParaRPr lang="zh-CN" altLang="en-US" sz="4000" spc="300" dirty="0">
                  <a:solidFill>
                    <a:schemeClr val="bg1"/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8" name="文本框 27"/>
            <p:cNvSpPr txBox="1"/>
            <p:nvPr/>
          </p:nvSpPr>
          <p:spPr>
            <a:xfrm>
              <a:off x="9550399" y="3052435"/>
              <a:ext cx="2349194" cy="144526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spc="600" dirty="0">
                  <a:solidFill>
                    <a:schemeClr val="bg1"/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+mn-lt"/>
                </a:rPr>
                <a:t>03</a:t>
              </a:r>
              <a:endParaRPr lang="zh-CN" altLang="en-US" sz="8800" spc="600" dirty="0">
                <a:solidFill>
                  <a:schemeClr val="bg1"/>
                </a:solidFill>
                <a:latin typeface="造字工房力黑（非商用）常规体" pitchFamily="50" charset="-122"/>
                <a:ea typeface="造字工房力黑（非商用）常规体" pitchFamily="50" charset="-122"/>
                <a:cs typeface="+mn-ea"/>
                <a:sym typeface="+mn-lt"/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4769" y="477840"/>
            <a:ext cx="2174882" cy="4560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0" y="161931"/>
            <a:ext cx="11940390" cy="456069"/>
            <a:chOff x="0" y="161931"/>
            <a:chExt cx="11940390" cy="456069"/>
          </a:xfrm>
        </p:grpSpPr>
        <p:grpSp>
          <p:nvGrpSpPr>
            <p:cNvPr id="41" name="组合 40"/>
            <p:cNvGrpSpPr/>
            <p:nvPr/>
          </p:nvGrpSpPr>
          <p:grpSpPr>
            <a:xfrm>
              <a:off x="0" y="202277"/>
              <a:ext cx="9666514" cy="381668"/>
              <a:chOff x="0" y="294640"/>
              <a:chExt cx="9666514" cy="381668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0" y="294640"/>
                <a:ext cx="880552" cy="375920"/>
                <a:chOff x="0" y="294640"/>
                <a:chExt cx="1094740" cy="467360"/>
              </a:xfrm>
              <a:solidFill>
                <a:srgbClr val="EE8A10"/>
              </a:solidFill>
            </p:grpSpPr>
            <p:sp>
              <p:nvSpPr>
                <p:cNvPr id="52" name="燕尾形 11"/>
                <p:cNvSpPr/>
                <p:nvPr/>
              </p:nvSpPr>
              <p:spPr>
                <a:xfrm>
                  <a:off x="416560" y="294640"/>
                  <a:ext cx="375920" cy="467360"/>
                </a:xfrm>
                <a:prstGeom prst="chevron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" name="燕尾形 12"/>
                <p:cNvSpPr/>
                <p:nvPr/>
              </p:nvSpPr>
              <p:spPr>
                <a:xfrm>
                  <a:off x="718820" y="294640"/>
                  <a:ext cx="375920" cy="467360"/>
                </a:xfrm>
                <a:prstGeom prst="chevron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五边形 13"/>
                <p:cNvSpPr/>
                <p:nvPr/>
              </p:nvSpPr>
              <p:spPr>
                <a:xfrm>
                  <a:off x="0" y="294640"/>
                  <a:ext cx="518160" cy="467360"/>
                </a:xfrm>
                <a:prstGeom prst="homePlat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4" name="文本框 43"/>
              <p:cNvSpPr txBox="1"/>
              <p:nvPr/>
            </p:nvSpPr>
            <p:spPr>
              <a:xfrm>
                <a:off x="1078865" y="339123"/>
                <a:ext cx="3477667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 spc="600" dirty="0"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</a:rPr>
                  <a:t>产业与赛题调研</a:t>
                </a:r>
                <a:endParaRPr lang="zh-CN" altLang="en-US" sz="1600" b="1" spc="600" dirty="0">
                  <a:latin typeface="锐字工房云字库细圆GBK" panose="02010604000000000000" pitchFamily="2" charset="-122"/>
                  <a:ea typeface="锐字工房云字库细圆GBK" panose="02010604000000000000" pitchFamily="2" charset="-122"/>
                </a:endParaRPr>
              </a:p>
            </p:txBody>
          </p:sp>
          <p:grpSp>
            <p:nvGrpSpPr>
              <p:cNvPr id="45" name="组合 44"/>
              <p:cNvGrpSpPr/>
              <p:nvPr/>
            </p:nvGrpSpPr>
            <p:grpSpPr>
              <a:xfrm>
                <a:off x="3356076" y="408709"/>
                <a:ext cx="1749361" cy="147782"/>
                <a:chOff x="635462" y="775854"/>
                <a:chExt cx="1749361" cy="147782"/>
              </a:xfrm>
              <a:solidFill>
                <a:srgbClr val="EE8A10"/>
              </a:solidFill>
            </p:grpSpPr>
            <p:sp>
              <p:nvSpPr>
                <p:cNvPr id="47" name="椭圆 46"/>
                <p:cNvSpPr/>
                <p:nvPr/>
              </p:nvSpPr>
              <p:spPr>
                <a:xfrm>
                  <a:off x="635462" y="775855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8" name="椭圆 47"/>
                <p:cNvSpPr/>
                <p:nvPr/>
              </p:nvSpPr>
              <p:spPr>
                <a:xfrm>
                  <a:off x="1036319" y="775854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>
                  <a:off x="1437176" y="775855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>
                  <a:off x="1836185" y="775854"/>
                  <a:ext cx="147781" cy="147781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2237042" y="775854"/>
                  <a:ext cx="147781" cy="147781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46" name="直接连接符 45"/>
              <p:cNvCxnSpPr/>
              <p:nvPr/>
            </p:nvCxnSpPr>
            <p:spPr>
              <a:xfrm>
                <a:off x="5212080" y="477520"/>
                <a:ext cx="4454434" cy="0"/>
              </a:xfrm>
              <a:prstGeom prst="line">
                <a:avLst/>
              </a:prstGeom>
              <a:ln w="317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65508" y="161931"/>
              <a:ext cx="2174882" cy="456069"/>
            </a:xfrm>
            <a:prstGeom prst="rect">
              <a:avLst/>
            </a:prstGeom>
          </p:spPr>
        </p:pic>
      </p:grpSp>
      <p:sp>
        <p:nvSpPr>
          <p:cNvPr id="23" name="矩形 22"/>
          <p:cNvSpPr>
            <a:spLocks noGrp="1"/>
          </p:cNvSpPr>
          <p:nvPr/>
        </p:nvSpPr>
        <p:spPr>
          <a:xfrm>
            <a:off x="1443990" y="3767455"/>
            <a:ext cx="426339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buNone/>
              <a:defRPr sz="1350" b="1">
                <a:solidFill>
                  <a:srgbClr val="B25B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 b="1" dirty="0" err="1">
                <a:solidFill>
                  <a:srgbClr val="B25B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产业界已解决的问题</a:t>
            </a:r>
            <a:endParaRPr sz="1600" b="1" dirty="0" err="1">
              <a:solidFill>
                <a:srgbClr val="B25B1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906905" y="4393565"/>
            <a:ext cx="333756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buNone/>
              <a:defRPr sz="1200" b="0">
                <a:solidFill>
                  <a:srgbClr val="3441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 b="0" dirty="0" err="1">
                <a:solidFill>
                  <a:srgbClr val="3441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OxyGent：模块化与可观察性</a:t>
            </a:r>
            <a:endParaRPr sz="1600" b="0" dirty="0">
              <a:solidFill>
                <a:srgbClr val="3441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buNone/>
              <a:defRPr sz="1200" b="0">
                <a:solidFill>
                  <a:srgbClr val="3441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 b="0" dirty="0" err="1">
                <a:solidFill>
                  <a:srgbClr val="3441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AutoGen：消息运行时与人机介入</a:t>
            </a:r>
            <a:endParaRPr sz="1600" b="0" dirty="0">
              <a:solidFill>
                <a:srgbClr val="3441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buNone/>
              <a:defRPr sz="1200" b="0">
                <a:solidFill>
                  <a:srgbClr val="3441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 b="0" dirty="0" err="1">
                <a:solidFill>
                  <a:srgbClr val="3441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LangGraph：图式编排与状态管理</a:t>
            </a:r>
            <a:endParaRPr sz="1600" b="0" dirty="0" err="1">
              <a:solidFill>
                <a:srgbClr val="3441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41465" y="3767455"/>
            <a:ext cx="2965450" cy="37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buNone/>
              <a:defRPr sz="1350" b="1">
                <a:solidFill>
                  <a:srgbClr val="B25B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 b="1" dirty="0" err="1">
                <a:solidFill>
                  <a:srgbClr val="B25B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仍需在用户侧回答的问题</a:t>
            </a:r>
            <a:endParaRPr sz="1600" b="1" dirty="0" err="1">
              <a:solidFill>
                <a:srgbClr val="B25B1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482715" y="4498340"/>
            <a:ext cx="3282950" cy="105791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buNone/>
              <a:defRPr sz="1125" b="0">
                <a:solidFill>
                  <a:srgbClr val="566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 b="0" dirty="0" err="1">
                <a:solidFill>
                  <a:srgbClr val="566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框架能编排</a:t>
            </a:r>
            <a:r>
              <a:rPr sz="1600" b="0" dirty="0">
                <a:solidFill>
                  <a:srgbClr val="566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 b="0" dirty="0" err="1">
                <a:solidFill>
                  <a:srgbClr val="566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Agent，却不必然让用户理解分工、判断何时介入，或在出错后定位原因</a:t>
            </a:r>
            <a:endParaRPr sz="1600" b="0" dirty="0" err="1">
              <a:solidFill>
                <a:srgbClr val="5664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164590" y="1118235"/>
          <a:ext cx="9695180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7590"/>
                <a:gridCol w="4847590"/>
              </a:tblGrid>
              <a:tr h="6000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赛题</a:t>
                      </a:r>
                      <a:endParaRPr lang="zh-CN" altLang="en-US" sz="1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产业界</a:t>
                      </a:r>
                      <a:endParaRPr lang="zh-CN" altLang="en-US" sz="1600"/>
                    </a:p>
                  </a:txBody>
                  <a:tcPr anchor="ctr" anchorCtr="0"/>
                </a:tc>
              </a:tr>
              <a:tr h="6000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600">
                          <a:solidFill>
                            <a:srgbClr val="34415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多模态理解</a:t>
                      </a:r>
                      <a:endParaRPr lang="zh-CN" altLang="en-US" sz="1600">
                        <a:solidFill>
                          <a:srgbClr val="34415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600">
                          <a:solidFill>
                            <a:srgbClr val="34415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动态任务分解与协商</a:t>
                      </a:r>
                      <a:r>
                        <a:rPr lang="en-US" sz="1600">
                          <a:solidFill>
                            <a:srgbClr val="34415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     </a:t>
                      </a:r>
                      <a:endParaRPr lang="zh-CN" altLang="en-US" sz="1600">
                        <a:solidFill>
                          <a:srgbClr val="34415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6000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600">
                          <a:solidFill>
                            <a:srgbClr val="34415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信息检索与逻辑推理</a:t>
                      </a:r>
                      <a:endParaRPr lang="zh-CN" altLang="en-US" sz="1600">
                        <a:solidFill>
                          <a:srgbClr val="34415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34415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sz="1600">
                          <a:solidFill>
                            <a:srgbClr val="34415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检索、文件、数学、MCP 等工具接入</a:t>
                      </a:r>
                      <a:r>
                        <a:rPr lang="en-US" sz="1600">
                          <a:solidFill>
                            <a:srgbClr val="34415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  </a:t>
                      </a:r>
                      <a:endParaRPr lang="zh-CN" altLang="en-US" sz="1600">
                        <a:solidFill>
                          <a:srgbClr val="34415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6000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600">
                          <a:solidFill>
                            <a:srgbClr val="34415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代码生成与终端交互</a:t>
                      </a:r>
                      <a:endParaRPr lang="zh-CN" altLang="en-US" sz="1600">
                        <a:solidFill>
                          <a:srgbClr val="34415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600">
                          <a:solidFill>
                            <a:srgbClr val="34415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执行过程与决策路径可追踪</a:t>
                      </a:r>
                      <a:endParaRPr lang="zh-CN" altLang="en-US" sz="1600">
                        <a:solidFill>
                          <a:srgbClr val="34415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407160"/>
            <a:ext cx="8001000" cy="404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0" y="713740"/>
            <a:ext cx="12192001" cy="4737100"/>
            <a:chOff x="0" y="713740"/>
            <a:chExt cx="12192001" cy="4737100"/>
          </a:xfrm>
        </p:grpSpPr>
        <p:grpSp>
          <p:nvGrpSpPr>
            <p:cNvPr id="26" name="组合 25"/>
            <p:cNvGrpSpPr/>
            <p:nvPr/>
          </p:nvGrpSpPr>
          <p:grpSpPr>
            <a:xfrm>
              <a:off x="0" y="1407160"/>
              <a:ext cx="4064000" cy="4043680"/>
              <a:chOff x="0" y="1407160"/>
              <a:chExt cx="4064000" cy="4043680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0" y="1407160"/>
                <a:ext cx="4064000" cy="404368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127000" y="2552462"/>
                <a:ext cx="3810000" cy="1568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4800" dirty="0">
                    <a:solidFill>
                      <a:schemeClr val="bg1"/>
                    </a:solidFill>
                    <a:latin typeface="造字工房力黑（非商用）常规体" pitchFamily="50" charset="-122"/>
                    <a:ea typeface="造字工房力黑（非商用）常规体" pitchFamily="50" charset="-122"/>
                    <a:cs typeface="+mn-ea"/>
                    <a:sym typeface="+mn-lt"/>
                  </a:rPr>
                  <a:t>方案与实验设计</a:t>
                </a:r>
                <a:endParaRPr lang="zh-CN" altLang="en-US" sz="4800" dirty="0">
                  <a:solidFill>
                    <a:schemeClr val="bg1"/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7564229" y="713740"/>
              <a:ext cx="4627772" cy="1386840"/>
              <a:chOff x="7564229" y="713740"/>
              <a:chExt cx="4627772" cy="1386840"/>
            </a:xfrm>
          </p:grpSpPr>
          <p:sp>
            <p:nvSpPr>
              <p:cNvPr id="29" name="任意多边形 28"/>
              <p:cNvSpPr/>
              <p:nvPr/>
            </p:nvSpPr>
            <p:spPr>
              <a:xfrm flipH="1" flipV="1">
                <a:off x="7564229" y="713740"/>
                <a:ext cx="4627771" cy="1386840"/>
              </a:xfrm>
              <a:custGeom>
                <a:avLst/>
                <a:gdLst>
                  <a:gd name="connsiteX0" fmla="*/ 0 w 7147560"/>
                  <a:gd name="connsiteY0" fmla="*/ 0 h 2814320"/>
                  <a:gd name="connsiteX1" fmla="*/ 6443980 w 7147560"/>
                  <a:gd name="connsiteY1" fmla="*/ 0 h 2814320"/>
                  <a:gd name="connsiteX2" fmla="*/ 7147560 w 7147560"/>
                  <a:gd name="connsiteY2" fmla="*/ 2814320 h 2814320"/>
                  <a:gd name="connsiteX3" fmla="*/ 0 w 7147560"/>
                  <a:gd name="connsiteY3" fmla="*/ 2814320 h 2814320"/>
                  <a:gd name="connsiteX0-1" fmla="*/ 0 w 8689506"/>
                  <a:gd name="connsiteY0-2" fmla="*/ 0 h 2814320"/>
                  <a:gd name="connsiteX1-3" fmla="*/ 6443980 w 8689506"/>
                  <a:gd name="connsiteY1-4" fmla="*/ 0 h 2814320"/>
                  <a:gd name="connsiteX2-5" fmla="*/ 8689506 w 8689506"/>
                  <a:gd name="connsiteY2-6" fmla="*/ 2814320 h 2814320"/>
                  <a:gd name="connsiteX3-7" fmla="*/ 0 w 8689506"/>
                  <a:gd name="connsiteY3-8" fmla="*/ 2814320 h 2814320"/>
                  <a:gd name="connsiteX4" fmla="*/ 0 w 8689506"/>
                  <a:gd name="connsiteY4" fmla="*/ 0 h 2814320"/>
                  <a:gd name="connsiteX0-9" fmla="*/ 0 w 9235080"/>
                  <a:gd name="connsiteY0-10" fmla="*/ 0 h 2834640"/>
                  <a:gd name="connsiteX1-11" fmla="*/ 6443980 w 9235080"/>
                  <a:gd name="connsiteY1-12" fmla="*/ 0 h 2834640"/>
                  <a:gd name="connsiteX2-13" fmla="*/ 9235080 w 9235080"/>
                  <a:gd name="connsiteY2-14" fmla="*/ 2834640 h 2834640"/>
                  <a:gd name="connsiteX3-15" fmla="*/ 0 w 9235080"/>
                  <a:gd name="connsiteY3-16" fmla="*/ 2814320 h 2834640"/>
                  <a:gd name="connsiteX4-17" fmla="*/ 0 w 9235080"/>
                  <a:gd name="connsiteY4-18" fmla="*/ 0 h 283464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17" y="connsiteY4-18"/>
                  </a:cxn>
                </a:cxnLst>
                <a:rect l="l" t="t" r="r" b="b"/>
                <a:pathLst>
                  <a:path w="9235080" h="2834640">
                    <a:moveTo>
                      <a:pt x="0" y="0"/>
                    </a:moveTo>
                    <a:lnTo>
                      <a:pt x="6443980" y="0"/>
                    </a:lnTo>
                    <a:lnTo>
                      <a:pt x="9235080" y="2834640"/>
                    </a:lnTo>
                    <a:lnTo>
                      <a:pt x="0" y="2814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+mn-lt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7712365" y="991661"/>
                <a:ext cx="447963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4000" spc="300" dirty="0">
                    <a:solidFill>
                      <a:schemeClr val="bg1"/>
                    </a:solidFill>
                    <a:latin typeface="造字工房力黑（非商用）常规体" pitchFamily="50" charset="-122"/>
                    <a:ea typeface="造字工房力黑（非商用）常规体" pitchFamily="50" charset="-122"/>
                    <a:cs typeface="+mn-ea"/>
                    <a:sym typeface="+mn-lt"/>
                  </a:rPr>
                  <a:t>PART ONE</a:t>
                </a:r>
                <a:endParaRPr lang="zh-CN" altLang="en-US" sz="4000" spc="300" dirty="0">
                  <a:solidFill>
                    <a:schemeClr val="bg1"/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8" name="文本框 27"/>
            <p:cNvSpPr txBox="1"/>
            <p:nvPr/>
          </p:nvSpPr>
          <p:spPr>
            <a:xfrm>
              <a:off x="9550399" y="3052435"/>
              <a:ext cx="2349194" cy="144526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spc="600" dirty="0">
                  <a:solidFill>
                    <a:schemeClr val="bg1"/>
                  </a:solidFill>
                  <a:latin typeface="造字工房力黑（非商用）常规体" pitchFamily="50" charset="-122"/>
                  <a:ea typeface="造字工房力黑（非商用）常规体" pitchFamily="50" charset="-122"/>
                  <a:cs typeface="+mn-ea"/>
                  <a:sym typeface="+mn-lt"/>
                </a:rPr>
                <a:t>04</a:t>
              </a:r>
              <a:endParaRPr lang="zh-CN" altLang="en-US" sz="8800" spc="600" dirty="0">
                <a:solidFill>
                  <a:schemeClr val="bg1"/>
                </a:solidFill>
                <a:latin typeface="造字工房力黑（非商用）常规体" pitchFamily="50" charset="-122"/>
                <a:ea typeface="造字工房力黑（非商用）常规体" pitchFamily="50" charset="-122"/>
                <a:cs typeface="+mn-ea"/>
                <a:sym typeface="+mn-lt"/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4769" y="477840"/>
            <a:ext cx="2174882" cy="4560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0" y="161931"/>
            <a:ext cx="11940390" cy="456069"/>
            <a:chOff x="0" y="161931"/>
            <a:chExt cx="11940390" cy="456069"/>
          </a:xfrm>
        </p:grpSpPr>
        <p:grpSp>
          <p:nvGrpSpPr>
            <p:cNvPr id="41" name="组合 40"/>
            <p:cNvGrpSpPr/>
            <p:nvPr/>
          </p:nvGrpSpPr>
          <p:grpSpPr>
            <a:xfrm>
              <a:off x="0" y="202277"/>
              <a:ext cx="9666514" cy="381668"/>
              <a:chOff x="0" y="294640"/>
              <a:chExt cx="9666514" cy="381668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0" y="294640"/>
                <a:ext cx="880552" cy="375920"/>
                <a:chOff x="0" y="294640"/>
                <a:chExt cx="1094740" cy="467360"/>
              </a:xfrm>
              <a:solidFill>
                <a:srgbClr val="EE8A10"/>
              </a:solidFill>
            </p:grpSpPr>
            <p:sp>
              <p:nvSpPr>
                <p:cNvPr id="52" name="燕尾形 11"/>
                <p:cNvSpPr/>
                <p:nvPr/>
              </p:nvSpPr>
              <p:spPr>
                <a:xfrm>
                  <a:off x="416560" y="294640"/>
                  <a:ext cx="375920" cy="467360"/>
                </a:xfrm>
                <a:prstGeom prst="chevron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" name="燕尾形 12"/>
                <p:cNvSpPr/>
                <p:nvPr/>
              </p:nvSpPr>
              <p:spPr>
                <a:xfrm>
                  <a:off x="718820" y="294640"/>
                  <a:ext cx="375920" cy="467360"/>
                </a:xfrm>
                <a:prstGeom prst="chevron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五边形 13"/>
                <p:cNvSpPr/>
                <p:nvPr/>
              </p:nvSpPr>
              <p:spPr>
                <a:xfrm>
                  <a:off x="0" y="294640"/>
                  <a:ext cx="518160" cy="467360"/>
                </a:xfrm>
                <a:prstGeom prst="homePlat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4" name="文本框 43"/>
              <p:cNvSpPr txBox="1"/>
              <p:nvPr/>
            </p:nvSpPr>
            <p:spPr>
              <a:xfrm>
                <a:off x="1078865" y="339123"/>
                <a:ext cx="3477667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 spc="600" dirty="0">
                    <a:latin typeface="锐字工房云字库细圆GBK" panose="02010604000000000000" pitchFamily="2" charset="-122"/>
                    <a:ea typeface="锐字工房云字库细圆GBK" panose="02010604000000000000" pitchFamily="2" charset="-122"/>
                  </a:rPr>
                  <a:t>方案与实验设计</a:t>
                </a:r>
                <a:endParaRPr lang="zh-CN" altLang="en-US" sz="1600" b="1" spc="600" dirty="0">
                  <a:latin typeface="锐字工房云字库细圆GBK" panose="02010604000000000000" pitchFamily="2" charset="-122"/>
                  <a:ea typeface="锐字工房云字库细圆GBK" panose="02010604000000000000" pitchFamily="2" charset="-122"/>
                </a:endParaRPr>
              </a:p>
            </p:txBody>
          </p:sp>
          <p:grpSp>
            <p:nvGrpSpPr>
              <p:cNvPr id="45" name="组合 44"/>
              <p:cNvGrpSpPr/>
              <p:nvPr/>
            </p:nvGrpSpPr>
            <p:grpSpPr>
              <a:xfrm>
                <a:off x="3356076" y="408709"/>
                <a:ext cx="1749361" cy="147782"/>
                <a:chOff x="635462" y="775854"/>
                <a:chExt cx="1749361" cy="147782"/>
              </a:xfrm>
              <a:solidFill>
                <a:srgbClr val="EE8A10"/>
              </a:solidFill>
            </p:grpSpPr>
            <p:sp>
              <p:nvSpPr>
                <p:cNvPr id="47" name="椭圆 46"/>
                <p:cNvSpPr/>
                <p:nvPr/>
              </p:nvSpPr>
              <p:spPr>
                <a:xfrm>
                  <a:off x="635462" y="775855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8" name="椭圆 47"/>
                <p:cNvSpPr/>
                <p:nvPr/>
              </p:nvSpPr>
              <p:spPr>
                <a:xfrm>
                  <a:off x="1036319" y="775854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>
                  <a:off x="1437176" y="775855"/>
                  <a:ext cx="147781" cy="147781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>
                  <a:off x="1836185" y="775854"/>
                  <a:ext cx="147781" cy="147781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2237042" y="775854"/>
                  <a:ext cx="147781" cy="147781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46" name="直接连接符 45"/>
              <p:cNvCxnSpPr/>
              <p:nvPr/>
            </p:nvCxnSpPr>
            <p:spPr>
              <a:xfrm>
                <a:off x="5212080" y="477520"/>
                <a:ext cx="4454434" cy="0"/>
              </a:xfrm>
              <a:prstGeom prst="line">
                <a:avLst/>
              </a:prstGeom>
              <a:ln w="317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65508" y="161931"/>
              <a:ext cx="2174882" cy="456069"/>
            </a:xfrm>
            <a:prstGeom prst="rect">
              <a:avLst/>
            </a:prstGeom>
          </p:spPr>
        </p:pic>
      </p:grpSp>
      <p:sp>
        <p:nvSpPr>
          <p:cNvPr id="2" name="矩形 1"/>
          <p:cNvSpPr>
            <a:spLocks noGrp="1"/>
          </p:cNvSpPr>
          <p:nvPr/>
        </p:nvSpPr>
        <p:spPr>
          <a:xfrm>
            <a:off x="685800" y="14287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系统流程</a:t>
            </a:r>
            <a:endParaRPr sz="1350" b="1">
              <a:solidFill>
                <a:srgbClr val="1F4E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1762125"/>
            <a:ext cx="28575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1DC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76300" y="1952625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用户输入需求</a:t>
            </a:r>
            <a:endParaRPr sz="1500" b="1">
              <a:solidFill>
                <a:srgbClr val="17212B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预算、用途、偏好与限制</a:t>
            </a:r>
            <a:endParaRPr sz="1500" b="1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箭头: 右 7"/>
          <p:cNvSpPr>
            <a:spLocks noGrp="1"/>
          </p:cNvSpPr>
          <p:nvPr/>
        </p:nvSpPr>
        <p:spPr>
          <a:xfrm>
            <a:off x="3667125" y="2114550"/>
            <a:ext cx="428625" cy="171450"/>
          </a:xfrm>
          <a:prstGeom prst="rightArrow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286250" y="1762125"/>
            <a:ext cx="2857500" cy="857250"/>
          </a:xfrm>
          <a:prstGeom prst="rect">
            <a:avLst/>
          </a:prstGeom>
          <a:solidFill>
            <a:srgbClr val="F4F6F8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572000" y="19240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OxyGent 多智能体协作</a:t>
            </a:r>
            <a:endParaRPr sz="1500" b="1">
              <a:solidFill>
                <a:srgbClr val="1F4E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572000" y="2276475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检索｜性能｜成本｜风险｜主控</a:t>
            </a:r>
            <a:endParaRPr sz="1125" b="0">
              <a:solidFill>
                <a:srgbClr val="5B65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箭头: 右 11"/>
          <p:cNvSpPr>
            <a:spLocks noGrp="1"/>
          </p:cNvSpPr>
          <p:nvPr/>
        </p:nvSpPr>
        <p:spPr>
          <a:xfrm>
            <a:off x="7286625" y="2114550"/>
            <a:ext cx="428625" cy="171450"/>
          </a:xfrm>
          <a:prstGeom prst="rightArrow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905750" y="1762125"/>
            <a:ext cx="36004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1DC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191500" y="1924050"/>
            <a:ext cx="3028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输出购买建议</a:t>
            </a:r>
            <a:endParaRPr sz="1500" b="1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191500" y="2276475"/>
            <a:ext cx="3028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结论、证据、分歧与执行记录</a:t>
            </a:r>
            <a:endParaRPr sz="1125" b="0">
              <a:solidFill>
                <a:srgbClr val="5B65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85800" y="30289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实验自变量：协作过程的可见程度</a:t>
            </a:r>
            <a:endParaRPr sz="1500" b="1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85800" y="3448050"/>
            <a:ext cx="3238500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685800" y="3448050"/>
            <a:ext cx="3238500" cy="7620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895350" y="3695700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A  单 Agent</a:t>
            </a:r>
            <a:endParaRPr sz="1500" b="1">
              <a:solidFill>
                <a:srgbClr val="1F4E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95350" y="4010025"/>
            <a:ext cx="281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573"/>
                </a:solidFill>
                <a:latin typeface="Aptos"/>
                <a:ea typeface="Aptos"/>
                <a:cs typeface="Aptos"/>
              </a:rPr>
              <a:t>基线条件</a:t>
            </a:r>
            <a:endParaRPr sz="1125" b="1">
              <a:solidFill>
                <a:srgbClr val="5B65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895350" y="4391025"/>
            <a:ext cx="2819400" cy="78105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1047750" y="4543425"/>
            <a:ext cx="2514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2191"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一个 Agent 直接完成检索、比较和推荐</a:t>
            </a:r>
            <a:endParaRPr sz="1275" b="0">
              <a:solidFill>
                <a:srgbClr val="17212B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12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用户只看到最终建议</a:t>
            </a:r>
            <a:endParaRPr sz="1275" b="0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95350" y="5362575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考察基本任务表现</a:t>
            </a:r>
            <a:endParaRPr sz="1125" b="1">
              <a:solidFill>
                <a:srgbClr val="1F4E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4343400" y="3448050"/>
            <a:ext cx="3238500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4343400" y="3448050"/>
            <a:ext cx="3238500" cy="7620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4552950" y="3695700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B  隐藏式多 Agent</a:t>
            </a:r>
            <a:endParaRPr sz="1500" b="1">
              <a:solidFill>
                <a:srgbClr val="1F4E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4552950" y="4010025"/>
            <a:ext cx="281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573"/>
                </a:solidFill>
                <a:latin typeface="Aptos"/>
                <a:ea typeface="Aptos"/>
                <a:cs typeface="Aptos"/>
              </a:rPr>
              <a:t>后台协作</a:t>
            </a:r>
            <a:endParaRPr sz="1125" b="1">
              <a:solidFill>
                <a:srgbClr val="5B65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4552950" y="4391025"/>
            <a:ext cx="2819400" cy="78105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4705350" y="4543425"/>
            <a:ext cx="2514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多个 Agent 在后台分工</a:t>
            </a:r>
            <a:endParaRPr sz="1275" b="0">
              <a:solidFill>
                <a:srgbClr val="17212B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12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用户仍只看到最终建议</a:t>
            </a:r>
            <a:endParaRPr sz="1275" b="0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4552950" y="5362575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考察多 Agent 本身的增益</a:t>
            </a:r>
            <a:endParaRPr sz="1125" b="1">
              <a:solidFill>
                <a:srgbClr val="1F4E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8001000" y="3448050"/>
            <a:ext cx="3238500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8001000" y="3448050"/>
            <a:ext cx="3238500" cy="7620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8210550" y="3695700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C  可见式多 Agent</a:t>
            </a:r>
            <a:endParaRPr sz="1500" b="1">
              <a:solidFill>
                <a:srgbClr val="1F4E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8210550" y="4010025"/>
            <a:ext cx="281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573"/>
                </a:solidFill>
                <a:latin typeface="Aptos"/>
                <a:ea typeface="Aptos"/>
                <a:cs typeface="Aptos"/>
              </a:rPr>
              <a:t>过程可见</a:t>
            </a:r>
            <a:endParaRPr sz="1125" b="1">
              <a:solidFill>
                <a:srgbClr val="5B65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8210550" y="4391025"/>
            <a:ext cx="2819400" cy="781050"/>
          </a:xfrm>
          <a:prstGeom prst="rect">
            <a:avLst/>
          </a:prstGeom>
          <a:solidFill>
            <a:srgbClr val="F4F6F8"/>
          </a:solidFill>
          <a:ln w="0">
            <a:noFill/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8362950" y="4543425"/>
            <a:ext cx="2514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显示角色、证据来源与意见分歧</a:t>
            </a:r>
            <a:endParaRPr sz="1275" b="0">
              <a:solidFill>
                <a:srgbClr val="17212B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12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允许用户查看并纠正关键节点</a:t>
            </a:r>
            <a:endParaRPr sz="1275" b="0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8210550" y="5362575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考察透明度对监督的影响</a:t>
            </a:r>
            <a:endParaRPr sz="1125" b="1">
              <a:solidFill>
                <a:srgbClr val="1F4E79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" name="燕尾形 45"/>
          <p:cNvSpPr>
            <a:spLocks noGrp="1"/>
          </p:cNvSpPr>
          <p:nvPr/>
        </p:nvSpPr>
        <p:spPr>
          <a:xfrm>
            <a:off x="0" y="209550"/>
            <a:ext cx="409575" cy="342900"/>
          </a:xfrm>
          <a:prstGeom prst="chevron">
            <a:avLst/>
          </a:prstGeom>
          <a:solidFill>
            <a:srgbClr val="216383"/>
          </a:solidFill>
          <a:ln w="0">
            <a:noFill/>
          </a:ln>
        </p:spPr>
      </p:sp>
      <p:sp>
        <p:nvSpPr>
          <p:cNvPr id="2" name="燕尾形 1"/>
          <p:cNvSpPr>
            <a:spLocks noGrp="1"/>
          </p:cNvSpPr>
          <p:nvPr/>
        </p:nvSpPr>
        <p:spPr>
          <a:xfrm>
            <a:off x="419100" y="209550"/>
            <a:ext cx="295275" cy="342900"/>
          </a:xfrm>
          <a:prstGeom prst="chevron">
            <a:avLst/>
          </a:prstGeom>
          <a:solidFill>
            <a:srgbClr val="68717A"/>
          </a:solidFill>
          <a:ln w="0">
            <a:noFill/>
          </a:ln>
        </p:spPr>
      </p:sp>
      <p:sp>
        <p:nvSpPr>
          <p:cNvPr id="3" name="燕尾形 2"/>
          <p:cNvSpPr>
            <a:spLocks noGrp="1"/>
          </p:cNvSpPr>
          <p:nvPr/>
        </p:nvSpPr>
        <p:spPr>
          <a:xfrm>
            <a:off x="723900" y="209550"/>
            <a:ext cx="295275" cy="342900"/>
          </a:xfrm>
          <a:prstGeom prst="chevron">
            <a:avLst/>
          </a:prstGeom>
          <a:solidFill>
            <a:srgbClr val="216383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200150" y="190500"/>
            <a:ext cx="3238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83F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183F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方案与实验设计</a:t>
            </a:r>
            <a:endParaRPr sz="2100" b="1">
              <a:solidFill>
                <a:srgbClr val="183F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椭圆 4"/>
          <p:cNvSpPr>
            <a:spLocks noGrp="1"/>
          </p:cNvSpPr>
          <p:nvPr/>
        </p:nvSpPr>
        <p:spPr>
          <a:xfrm>
            <a:off x="4629150" y="342900"/>
            <a:ext cx="142875" cy="142875"/>
          </a:xfrm>
          <a:prstGeom prst="ellipse">
            <a:avLst/>
          </a:prstGeom>
          <a:solidFill>
            <a:srgbClr val="C0C2C4"/>
          </a:solidFill>
          <a:ln w="0">
            <a:noFill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5038725" y="342900"/>
            <a:ext cx="142875" cy="142875"/>
          </a:xfrm>
          <a:prstGeom prst="ellipse">
            <a:avLst/>
          </a:prstGeom>
          <a:solidFill>
            <a:srgbClr val="A7A9AB"/>
          </a:solidFill>
          <a:ln w="0">
            <a:noFill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5448300" y="342900"/>
            <a:ext cx="142875" cy="142875"/>
          </a:xfrm>
          <a:prstGeom prst="ellipse">
            <a:avLst/>
          </a:prstGeom>
          <a:solidFill>
            <a:srgbClr val="858789"/>
          </a:solidFill>
          <a:ln w="0">
            <a:noFill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5857875" y="342900"/>
            <a:ext cx="142875" cy="142875"/>
          </a:xfrm>
          <a:prstGeom prst="ellipse">
            <a:avLst/>
          </a:prstGeom>
          <a:solidFill>
            <a:srgbClr val="6F7173"/>
          </a:solidFill>
          <a:ln w="0">
            <a:noFill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6267450" y="342900"/>
            <a:ext cx="142875" cy="142875"/>
          </a:xfrm>
          <a:prstGeom prst="ellipse">
            <a:avLst/>
          </a:prstGeom>
          <a:solidFill>
            <a:srgbClr val="585A5C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677025" y="409575"/>
            <a:ext cx="2667000" cy="19050"/>
          </a:xfrm>
          <a:prstGeom prst="rect">
            <a:avLst/>
          </a:prstGeom>
          <a:solidFill>
            <a:srgbClr val="74777A"/>
          </a:solidFill>
          <a:ln w="0">
            <a:noFill/>
          </a:ln>
        </p:spPr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4550" y="169665"/>
            <a:ext cx="2190750" cy="460770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685800" y="1428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实验流程</a:t>
            </a:r>
            <a:endParaRPr sz="1350" b="1">
              <a:solidFill>
                <a:srgbClr val="1F4E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85800" y="1809750"/>
            <a:ext cx="22860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1DC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857250" y="19621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01</a:t>
            </a:r>
            <a:endParaRPr sz="1350" b="1">
              <a:solidFill>
                <a:srgbClr val="1F4E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857250" y="2286000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招募参与者</a:t>
            </a:r>
            <a:endParaRPr sz="1350" b="1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57250" y="262890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15–30 名有网购经验的大学生</a:t>
            </a:r>
            <a:endParaRPr sz="1050" b="0">
              <a:solidFill>
                <a:srgbClr val="5B65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3371850" y="1809750"/>
            <a:ext cx="22860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1DC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3543300" y="19621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02</a:t>
            </a:r>
            <a:endParaRPr sz="1350" b="1">
              <a:solidFill>
                <a:srgbClr val="1F4E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3543300" y="2286000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完成决策任务</a:t>
            </a:r>
            <a:endParaRPr sz="1350" b="1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3543300" y="262890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完成 6–8 个有预算和用途约束的任务</a:t>
            </a:r>
            <a:endParaRPr sz="1050" b="0">
              <a:solidFill>
                <a:srgbClr val="5B65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057900" y="1809750"/>
            <a:ext cx="22860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1DC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6229350" y="19621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03</a:t>
            </a:r>
            <a:endParaRPr sz="1350" b="1">
              <a:solidFill>
                <a:srgbClr val="1F4E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6229350" y="2286000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体验三种条件</a:t>
            </a:r>
            <a:endParaRPr sz="1350" b="1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6229350" y="262890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体验 A、B、C，顺序随机安排</a:t>
            </a:r>
            <a:endParaRPr sz="1050" b="0">
              <a:solidFill>
                <a:srgbClr val="5B65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743950" y="1809750"/>
            <a:ext cx="22860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1DC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8915400" y="19621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04</a:t>
            </a:r>
            <a:endParaRPr sz="1350" b="1">
              <a:solidFill>
                <a:srgbClr val="1F4E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915400" y="2286000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记录行为与体验</a:t>
            </a:r>
            <a:endParaRPr sz="1350" b="1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8915400" y="262890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记录结果、时间、纠错和感受</a:t>
            </a:r>
            <a:endParaRPr sz="1050" b="0">
              <a:solidFill>
                <a:srgbClr val="5B65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4" name="箭头: 右 21"/>
          <p:cNvSpPr>
            <a:spLocks noGrp="1"/>
          </p:cNvSpPr>
          <p:nvPr/>
        </p:nvSpPr>
        <p:spPr>
          <a:xfrm>
            <a:off x="3076575" y="2286000"/>
            <a:ext cx="238125" cy="171450"/>
          </a:xfrm>
          <a:prstGeom prst="rightArrow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65" name="箭头: 右 22"/>
          <p:cNvSpPr>
            <a:spLocks noGrp="1"/>
          </p:cNvSpPr>
          <p:nvPr/>
        </p:nvSpPr>
        <p:spPr>
          <a:xfrm>
            <a:off x="5762625" y="2286000"/>
            <a:ext cx="238125" cy="171450"/>
          </a:xfrm>
          <a:prstGeom prst="rightArrow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66" name="箭头: 右 23"/>
          <p:cNvSpPr>
            <a:spLocks noGrp="1"/>
          </p:cNvSpPr>
          <p:nvPr/>
        </p:nvSpPr>
        <p:spPr>
          <a:xfrm>
            <a:off x="8448675" y="2286000"/>
            <a:ext cx="238125" cy="171450"/>
          </a:xfrm>
          <a:prstGeom prst="rightArrow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685800" y="33147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评价指标</a:t>
            </a:r>
            <a:endParaRPr sz="1350" b="1">
              <a:solidFill>
                <a:srgbClr val="1F4E79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68" name="表格 67"/>
          <p:cNvGraphicFramePr/>
          <p:nvPr/>
        </p:nvGraphicFramePr>
        <p:xfrm>
          <a:off x="685800" y="3695700"/>
          <a:ext cx="6572250" cy="2095500"/>
        </p:xfrm>
        <a:graphic>
          <a:graphicData uri="http://schemas.openxmlformats.org/drawingml/2006/table">
            <a:tbl>
              <a:tblPr/>
              <a:tblGrid>
                <a:gridCol w="1428750"/>
                <a:gridCol w="2571750"/>
                <a:gridCol w="257175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指标类型</a:t>
                      </a:r>
                      <a:endParaRPr sz="120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核心指标</a:t>
                      </a:r>
                      <a:endParaRPr sz="120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回答的问题</a:t>
                      </a:r>
                      <a:endParaRPr sz="120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客观表现</a:t>
                      </a:r>
                      <a:endParaRPr sz="1050">
                        <a:solidFill>
                          <a:srgbClr val="17212B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任务成功率、推荐质量</a:t>
                      </a:r>
                      <a:endParaRPr sz="1050">
                        <a:solidFill>
                          <a:srgbClr val="17212B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建议是否正确、是否满足约束</a:t>
                      </a:r>
                      <a:endParaRPr sz="1050">
                        <a:solidFill>
                          <a:srgbClr val="17212B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solidFill>
                      <a:srgbClr val="F1F5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效率</a:t>
                      </a:r>
                      <a:endParaRPr sz="1050">
                        <a:solidFill>
                          <a:srgbClr val="17212B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完成时间、干预次数</a:t>
                      </a:r>
                      <a:endParaRPr sz="1050">
                        <a:solidFill>
                          <a:srgbClr val="17212B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透明度带来的收益是否值得额外操作</a:t>
                      </a:r>
                      <a:endParaRPr sz="1050">
                        <a:solidFill>
                          <a:srgbClr val="17212B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监督能力</a:t>
                      </a:r>
                      <a:endParaRPr sz="1050">
                        <a:solidFill>
                          <a:srgbClr val="17212B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错误发现率、纠错成功率</a:t>
                      </a:r>
                      <a:endParaRPr sz="1050">
                        <a:solidFill>
                          <a:srgbClr val="17212B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用户能否定位并修正 Agent 的问题</a:t>
                      </a:r>
                      <a:endParaRPr sz="1050">
                        <a:solidFill>
                          <a:srgbClr val="17212B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solidFill>
                      <a:srgbClr val="F1F5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主观体验</a:t>
                      </a:r>
                      <a:endParaRPr sz="1050">
                        <a:solidFill>
                          <a:srgbClr val="17212B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信任、掌控感、NASA-TLX、SUS</a:t>
                      </a:r>
                      <a:endParaRPr sz="1050">
                        <a:solidFill>
                          <a:srgbClr val="17212B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用户是否理解、愿意依赖且负担可接受</a:t>
                      </a:r>
                      <a:endParaRPr sz="1050">
                        <a:solidFill>
                          <a:srgbClr val="17212B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" name="矩形 68"/>
          <p:cNvSpPr>
            <a:spLocks noGrp="1"/>
          </p:cNvSpPr>
          <p:nvPr/>
        </p:nvSpPr>
        <p:spPr>
          <a:xfrm>
            <a:off x="7658100" y="3695700"/>
            <a:ext cx="38481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1DC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7886700" y="39052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研究假设</a:t>
            </a:r>
            <a:endParaRPr sz="1425" b="1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7886700" y="4305300"/>
            <a:ext cx="333375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047"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H1：B 相比 A 可能提高成功率，但未必提高错误发现率。</a:t>
            </a:r>
            <a:endParaRPr sz="1200" b="0">
              <a:solidFill>
                <a:srgbClr val="17212B"/>
              </a:solidFill>
              <a:latin typeface="Aptos"/>
              <a:ea typeface="Aptos"/>
              <a:cs typeface="Aptos"/>
            </a:endParaRPr>
          </a:p>
          <a:p>
            <a:endParaRPr sz="1200" b="0">
              <a:solidFill>
                <a:srgbClr val="17212B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H2：C 相比 B 可能提高错误发现率、纠错成功率和掌控感。</a:t>
            </a:r>
            <a:endParaRPr sz="1200" b="0">
              <a:solidFill>
                <a:srgbClr val="17212B"/>
              </a:solidFill>
              <a:latin typeface="Aptos"/>
              <a:ea typeface="Aptos"/>
              <a:cs typeface="Aptos"/>
            </a:endParaRPr>
          </a:p>
          <a:p>
            <a:endParaRPr sz="1200" b="0">
              <a:solidFill>
                <a:srgbClr val="17212B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H3：C 可能增加时间和认知负荷，需要权衡收益与负担。</a:t>
            </a:r>
            <a:endParaRPr sz="1200" b="0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685800" y="611505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分析三种条件的结果，并结合访谈解释用户为何介入、信任或拒绝系统建议。</a:t>
            </a:r>
            <a:endParaRPr sz="1200" b="0">
              <a:solidFill>
                <a:srgbClr val="5B6573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雷锋PPT网www.lfppt.com"/>
          <p:cNvSpPr/>
          <p:nvPr/>
        </p:nvSpPr>
        <p:spPr>
          <a:xfrm>
            <a:off x="3820160" y="0"/>
            <a:ext cx="8371840" cy="6858000"/>
          </a:xfrm>
          <a:prstGeom prst="rect">
            <a:avLst/>
          </a:prstGeom>
          <a:solidFill>
            <a:schemeClr val="accent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026920" y="1115775"/>
            <a:ext cx="7752080" cy="3596640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026920" y="1115775"/>
            <a:ext cx="1793240" cy="359664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081284" y="2225040"/>
            <a:ext cx="71180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spc="600" dirty="0">
                <a:solidFill>
                  <a:srgbClr val="557F9A"/>
                </a:solidFill>
                <a:latin typeface="叶根友特楷简体" panose="02010601030101010101" pitchFamily="2" charset="-122"/>
                <a:ea typeface="叶根友特楷简体" panose="02010601030101010101" pitchFamily="2" charset="-122"/>
              </a:rPr>
              <a:t>感谢</a:t>
            </a:r>
            <a:r>
              <a:rPr lang="zh-CN" altLang="en-US" sz="6000" spc="600" dirty="0">
                <a:solidFill>
                  <a:schemeClr val="bg1"/>
                </a:solidFill>
                <a:latin typeface="叶根友特楷简体" panose="02010601030101010101" pitchFamily="2" charset="-122"/>
                <a:ea typeface="叶根友特楷简体" panose="02010601030101010101" pitchFamily="2" charset="-122"/>
              </a:rPr>
              <a:t>您的观看</a:t>
            </a:r>
            <a:endParaRPr lang="zh-CN" altLang="en-US" sz="6000" spc="600" dirty="0">
              <a:solidFill>
                <a:schemeClr val="bg1"/>
              </a:solidFill>
              <a:latin typeface="叶根友特楷简体" panose="02010601030101010101" pitchFamily="2" charset="-122"/>
              <a:ea typeface="叶根友特楷简体" panose="02010601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81284" y="3268850"/>
            <a:ext cx="8461307" cy="885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spc="600" dirty="0">
                <a:solidFill>
                  <a:srgbClr val="557F9A"/>
                </a:solidFill>
                <a:latin typeface="A-OTF Outai Kaisho Std Light" panose="02020300000000000000" pitchFamily="18" charset="-128"/>
                <a:ea typeface="A-OTF Outai Kaisho Std Light" panose="02020300000000000000" pitchFamily="18" charset="-128"/>
              </a:rPr>
              <a:t>THANK </a:t>
            </a:r>
            <a:r>
              <a:rPr lang="en-US" altLang="zh-CN" sz="4000" b="1" spc="600" dirty="0">
                <a:solidFill>
                  <a:schemeClr val="bg1"/>
                </a:solidFill>
                <a:latin typeface="A-OTF Outai Kaisho Std Light" panose="02020300000000000000" pitchFamily="18" charset="-128"/>
                <a:ea typeface="A-OTF Outai Kaisho Std Light" panose="02020300000000000000" pitchFamily="18" charset="-128"/>
              </a:rPr>
              <a:t>YOU</a:t>
            </a:r>
            <a:endParaRPr lang="zh-CN" altLang="en-US" sz="4000" b="1" spc="600" dirty="0">
              <a:solidFill>
                <a:schemeClr val="bg1"/>
              </a:solidFill>
              <a:latin typeface="A-OTF Outai Kaisho Std Light" panose="02020300000000000000" pitchFamily="18" charset="-128"/>
              <a:ea typeface="A-OTF Outai Kaisho Std Light" panose="02020300000000000000" pitchFamily="18" charset="-128"/>
            </a:endParaRPr>
          </a:p>
        </p:txBody>
      </p:sp>
      <p:grpSp>
        <p:nvGrpSpPr>
          <p:cNvPr id="11" name="组合 12" descr="e7d195523061f1c0d318120d6aeaf1b6ccceb6ba3da59c0775C5DE19DDDEBC09ED96DBD9900D9848D623ECAD1D4904B78047D0015C22C8BE97228BE8B5BFF08FE7A3AE04126DA07312A96C0F69F9BAB7B8762A2F02ECB167EB1D3D935132D44A03185F23F8625673A228DA0C7DA620D0616217B810CE4DCA0BDC2CD812D5F48220C6184BA351E466"/>
          <p:cNvGrpSpPr/>
          <p:nvPr/>
        </p:nvGrpSpPr>
        <p:grpSpPr>
          <a:xfrm flipH="1" flipV="1">
            <a:off x="9122464" y="1218411"/>
            <a:ext cx="552396" cy="498797"/>
            <a:chOff x="5934075" y="857250"/>
            <a:chExt cx="801688" cy="723900"/>
          </a:xfrm>
          <a:solidFill>
            <a:schemeClr val="bg1"/>
          </a:solidFill>
        </p:grpSpPr>
        <p:sp>
          <p:nvSpPr>
            <p:cNvPr id="12" name="Freeform 5"/>
            <p:cNvSpPr/>
            <p:nvPr/>
          </p:nvSpPr>
          <p:spPr bwMode="auto">
            <a:xfrm>
              <a:off x="5934075" y="857250"/>
              <a:ext cx="322263" cy="723900"/>
            </a:xfrm>
            <a:custGeom>
              <a:avLst/>
              <a:gdLst>
                <a:gd name="T0" fmla="*/ 1 w 198"/>
                <a:gd name="T1" fmla="*/ 444 h 444"/>
                <a:gd name="T2" fmla="*/ 1 w 198"/>
                <a:gd name="T3" fmla="*/ 232 h 444"/>
                <a:gd name="T4" fmla="*/ 14 w 198"/>
                <a:gd name="T5" fmla="*/ 146 h 444"/>
                <a:gd name="T6" fmla="*/ 55 w 198"/>
                <a:gd name="T7" fmla="*/ 76 h 444"/>
                <a:gd name="T8" fmla="*/ 118 w 198"/>
                <a:gd name="T9" fmla="*/ 25 h 444"/>
                <a:gd name="T10" fmla="*/ 198 w 198"/>
                <a:gd name="T11" fmla="*/ 0 h 444"/>
                <a:gd name="T12" fmla="*/ 198 w 198"/>
                <a:gd name="T13" fmla="*/ 91 h 444"/>
                <a:gd name="T14" fmla="*/ 126 w 198"/>
                <a:gd name="T15" fmla="*/ 144 h 444"/>
                <a:gd name="T16" fmla="*/ 106 w 198"/>
                <a:gd name="T17" fmla="*/ 231 h 444"/>
                <a:gd name="T18" fmla="*/ 198 w 198"/>
                <a:gd name="T19" fmla="*/ 231 h 444"/>
                <a:gd name="T20" fmla="*/ 198 w 198"/>
                <a:gd name="T21" fmla="*/ 444 h 444"/>
                <a:gd name="T22" fmla="*/ 1 w 198"/>
                <a:gd name="T23" fmla="*/ 444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8" h="444">
                  <a:moveTo>
                    <a:pt x="1" y="444"/>
                  </a:moveTo>
                  <a:cubicBezTo>
                    <a:pt x="1" y="232"/>
                    <a:pt x="1" y="232"/>
                    <a:pt x="1" y="232"/>
                  </a:cubicBezTo>
                  <a:cubicBezTo>
                    <a:pt x="0" y="202"/>
                    <a:pt x="5" y="173"/>
                    <a:pt x="14" y="146"/>
                  </a:cubicBezTo>
                  <a:cubicBezTo>
                    <a:pt x="24" y="120"/>
                    <a:pt x="38" y="96"/>
                    <a:pt x="55" y="76"/>
                  </a:cubicBezTo>
                  <a:cubicBezTo>
                    <a:pt x="73" y="55"/>
                    <a:pt x="94" y="39"/>
                    <a:pt x="118" y="25"/>
                  </a:cubicBezTo>
                  <a:cubicBezTo>
                    <a:pt x="143" y="12"/>
                    <a:pt x="169" y="3"/>
                    <a:pt x="198" y="0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63" y="103"/>
                    <a:pt x="139" y="121"/>
                    <a:pt x="126" y="144"/>
                  </a:cubicBezTo>
                  <a:cubicBezTo>
                    <a:pt x="113" y="168"/>
                    <a:pt x="106" y="197"/>
                    <a:pt x="106" y="231"/>
                  </a:cubicBezTo>
                  <a:cubicBezTo>
                    <a:pt x="198" y="231"/>
                    <a:pt x="198" y="231"/>
                    <a:pt x="198" y="231"/>
                  </a:cubicBezTo>
                  <a:cubicBezTo>
                    <a:pt x="198" y="444"/>
                    <a:pt x="198" y="444"/>
                    <a:pt x="198" y="444"/>
                  </a:cubicBezTo>
                  <a:cubicBezTo>
                    <a:pt x="1" y="444"/>
                    <a:pt x="1" y="444"/>
                    <a:pt x="1" y="4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WenYue GuDianMingChaoTi (Non-Commercial Use)" pitchFamily="50" charset="-122"/>
                <a:sym typeface="Segoe Script" panose="030B0504020000000003" pitchFamily="66" charset="0"/>
              </a:endParaRPr>
            </a:p>
          </p:txBody>
        </p:sp>
        <p:sp>
          <p:nvSpPr>
            <p:cNvPr id="13" name="Freeform 6"/>
            <p:cNvSpPr/>
            <p:nvPr/>
          </p:nvSpPr>
          <p:spPr bwMode="auto">
            <a:xfrm>
              <a:off x="6413500" y="857250"/>
              <a:ext cx="322263" cy="723900"/>
            </a:xfrm>
            <a:custGeom>
              <a:avLst/>
              <a:gdLst>
                <a:gd name="T0" fmla="*/ 1 w 198"/>
                <a:gd name="T1" fmla="*/ 444 h 444"/>
                <a:gd name="T2" fmla="*/ 1 w 198"/>
                <a:gd name="T3" fmla="*/ 232 h 444"/>
                <a:gd name="T4" fmla="*/ 14 w 198"/>
                <a:gd name="T5" fmla="*/ 146 h 444"/>
                <a:gd name="T6" fmla="*/ 55 w 198"/>
                <a:gd name="T7" fmla="*/ 76 h 444"/>
                <a:gd name="T8" fmla="*/ 118 w 198"/>
                <a:gd name="T9" fmla="*/ 25 h 444"/>
                <a:gd name="T10" fmla="*/ 198 w 198"/>
                <a:gd name="T11" fmla="*/ 0 h 444"/>
                <a:gd name="T12" fmla="*/ 198 w 198"/>
                <a:gd name="T13" fmla="*/ 91 h 444"/>
                <a:gd name="T14" fmla="*/ 126 w 198"/>
                <a:gd name="T15" fmla="*/ 144 h 444"/>
                <a:gd name="T16" fmla="*/ 107 w 198"/>
                <a:gd name="T17" fmla="*/ 231 h 444"/>
                <a:gd name="T18" fmla="*/ 198 w 198"/>
                <a:gd name="T19" fmla="*/ 231 h 444"/>
                <a:gd name="T20" fmla="*/ 198 w 198"/>
                <a:gd name="T21" fmla="*/ 444 h 444"/>
                <a:gd name="T22" fmla="*/ 1 w 198"/>
                <a:gd name="T23" fmla="*/ 444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8" h="444">
                  <a:moveTo>
                    <a:pt x="1" y="444"/>
                  </a:moveTo>
                  <a:cubicBezTo>
                    <a:pt x="1" y="232"/>
                    <a:pt x="1" y="232"/>
                    <a:pt x="1" y="232"/>
                  </a:cubicBezTo>
                  <a:cubicBezTo>
                    <a:pt x="0" y="202"/>
                    <a:pt x="5" y="173"/>
                    <a:pt x="14" y="146"/>
                  </a:cubicBezTo>
                  <a:cubicBezTo>
                    <a:pt x="24" y="120"/>
                    <a:pt x="38" y="96"/>
                    <a:pt x="55" y="76"/>
                  </a:cubicBezTo>
                  <a:cubicBezTo>
                    <a:pt x="73" y="55"/>
                    <a:pt x="94" y="39"/>
                    <a:pt x="118" y="25"/>
                  </a:cubicBezTo>
                  <a:cubicBezTo>
                    <a:pt x="143" y="12"/>
                    <a:pt x="169" y="3"/>
                    <a:pt x="198" y="0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63" y="103"/>
                    <a:pt x="139" y="121"/>
                    <a:pt x="126" y="144"/>
                  </a:cubicBezTo>
                  <a:cubicBezTo>
                    <a:pt x="113" y="168"/>
                    <a:pt x="107" y="197"/>
                    <a:pt x="107" y="231"/>
                  </a:cubicBezTo>
                  <a:cubicBezTo>
                    <a:pt x="198" y="231"/>
                    <a:pt x="198" y="231"/>
                    <a:pt x="198" y="231"/>
                  </a:cubicBezTo>
                  <a:cubicBezTo>
                    <a:pt x="198" y="444"/>
                    <a:pt x="198" y="444"/>
                    <a:pt x="198" y="444"/>
                  </a:cubicBezTo>
                  <a:cubicBezTo>
                    <a:pt x="1" y="444"/>
                    <a:pt x="1" y="444"/>
                    <a:pt x="1" y="4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WenYue GuDianMingChaoTi (Non-Commercial Use)" pitchFamily="50" charset="-122"/>
                <a:sym typeface="Segoe Script" panose="030B0504020000000003" pitchFamily="66" charset="0"/>
              </a:endParaRPr>
            </a:p>
          </p:txBody>
        </p:sp>
        <p:sp>
          <p:nvSpPr>
            <p:cNvPr id="14" name="Line 7"/>
            <p:cNvSpPr>
              <a:spLocks noChangeShapeType="1"/>
            </p:cNvSpPr>
            <p:nvPr/>
          </p:nvSpPr>
          <p:spPr bwMode="auto">
            <a:xfrm>
              <a:off x="6415088" y="1581150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WenYue GuDianMingChaoTi (Non-Commercial Use)" pitchFamily="50" charset="-122"/>
                <a:sym typeface="Segoe Script" panose="030B0504020000000003" pitchFamily="66" charset="0"/>
              </a:endParaRPr>
            </a:p>
          </p:txBody>
        </p:sp>
        <p:sp>
          <p:nvSpPr>
            <p:cNvPr id="15" name="Line 8"/>
            <p:cNvSpPr>
              <a:spLocks noChangeShapeType="1"/>
            </p:cNvSpPr>
            <p:nvPr/>
          </p:nvSpPr>
          <p:spPr bwMode="auto">
            <a:xfrm>
              <a:off x="6415088" y="1581150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WenYue GuDianMingChaoTi (Non-Commercial Use)" pitchFamily="50" charset="-122"/>
                <a:sym typeface="Segoe Script" panose="030B0504020000000003" pitchFamily="66" charset="0"/>
              </a:endParaRPr>
            </a:p>
          </p:txBody>
        </p:sp>
      </p:grpSp>
      <p:grpSp>
        <p:nvGrpSpPr>
          <p:cNvPr id="16" name="PA_组 15" descr="e7d195523061f1c0d318120d6aeaf1b6ccceb6ba3da59c0775C5DE19DDDEBC09ED96DBD9900D9848D623ECAD1D4904B78047D0015C22C8BE97228BE8B5BFF08FE7A3AE04126DA07312A96C0F69F9BAB7B8762A2F02ECB167EB1D3D935132D44A03185F23F8625673A228DA0C7DA620D0616217B810CE4DCA0BDC2CD812D5F48220C6184BA351E466"/>
          <p:cNvGrpSpPr/>
          <p:nvPr>
            <p:custDataLst>
              <p:tags r:id="rId2"/>
            </p:custDataLst>
          </p:nvPr>
        </p:nvGrpSpPr>
        <p:grpSpPr>
          <a:xfrm>
            <a:off x="10698480" y="6010692"/>
            <a:ext cx="539487" cy="91226"/>
            <a:chOff x="989510" y="6337738"/>
            <a:chExt cx="683708" cy="115614"/>
          </a:xfrm>
        </p:grpSpPr>
        <p:sp>
          <p:nvSpPr>
            <p:cNvPr id="17" name="椭圆 16"/>
            <p:cNvSpPr/>
            <p:nvPr/>
          </p:nvSpPr>
          <p:spPr>
            <a:xfrm>
              <a:off x="989510" y="6337738"/>
              <a:ext cx="115614" cy="11561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cript" panose="030B0504020000000003" pitchFamily="66" charset="0"/>
                <a:ea typeface="WenYue GuDianMingChaoTi (Non-Commercial Use)" pitchFamily="50" charset="-122"/>
                <a:sym typeface="Segoe Script" panose="030B0504020000000003" pitchFamily="66" charset="0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273557" y="6337738"/>
              <a:ext cx="115614" cy="1156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cript" panose="030B0504020000000003" pitchFamily="66" charset="0"/>
                <a:ea typeface="WenYue GuDianMingChaoTi (Non-Commercial Use)" pitchFamily="50" charset="-122"/>
                <a:sym typeface="Segoe Script" panose="030B0504020000000003" pitchFamily="66" charset="0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557604" y="6337738"/>
              <a:ext cx="115614" cy="11561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cript" panose="030B0504020000000003" pitchFamily="66" charset="0"/>
                <a:ea typeface="WenYue GuDianMingChaoTi (Non-Commercial Use)" pitchFamily="50" charset="-122"/>
                <a:sym typeface="Segoe Script" panose="030B0504020000000003" pitchFamily="66" charset="0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1610800" y="-162560"/>
            <a:ext cx="346249" cy="7228840"/>
            <a:chOff x="11610800" y="-71120"/>
            <a:chExt cx="346249" cy="7228840"/>
          </a:xfrm>
        </p:grpSpPr>
        <p:sp>
          <p:nvSpPr>
            <p:cNvPr id="20" name="文本框 19"/>
            <p:cNvSpPr txBox="1"/>
            <p:nvPr/>
          </p:nvSpPr>
          <p:spPr>
            <a:xfrm>
              <a:off x="11610800" y="1559560"/>
              <a:ext cx="346249" cy="374904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zh-CN" sz="1050" spc="600" dirty="0">
                  <a:solidFill>
                    <a:schemeClr val="bg1"/>
                  </a:solidFill>
                  <a:latin typeface="造字工房力黑（非商用）常规体" pitchFamily="50" charset="-122"/>
                  <a:ea typeface="造字工房力黑（非商用）常规体" pitchFamily="50" charset="-122"/>
                </a:rPr>
                <a:t>ADD YOUR TITLE HERE</a:t>
              </a:r>
              <a:endParaRPr lang="zh-CN" altLang="en-US" sz="1050" spc="600" dirty="0">
                <a:solidFill>
                  <a:schemeClr val="bg1"/>
                </a:solidFill>
                <a:latin typeface="造字工房力黑（非商用）常规体" pitchFamily="50" charset="-122"/>
                <a:ea typeface="造字工房力黑（非商用）常规体" pitchFamily="50" charset="-122"/>
              </a:endParaRPr>
            </a:p>
          </p:txBody>
        </p:sp>
        <p:cxnSp>
          <p:nvCxnSpPr>
            <p:cNvPr id="22" name="直接连接符 21"/>
            <p:cNvCxnSpPr>
              <a:stCxn id="20" idx="0"/>
            </p:cNvCxnSpPr>
            <p:nvPr/>
          </p:nvCxnSpPr>
          <p:spPr>
            <a:xfrm flipV="1">
              <a:off x="11783925" y="-71120"/>
              <a:ext cx="0" cy="1630680"/>
            </a:xfrm>
            <a:prstGeom prst="line">
              <a:avLst/>
            </a:prstGeom>
            <a:ln w="25400">
              <a:solidFill>
                <a:schemeClr val="bg1">
                  <a:lumMod val="9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stCxn id="20" idx="2"/>
            </p:cNvCxnSpPr>
            <p:nvPr/>
          </p:nvCxnSpPr>
          <p:spPr>
            <a:xfrm>
              <a:off x="11783925" y="5308600"/>
              <a:ext cx="21995" cy="1849120"/>
            </a:xfrm>
            <a:prstGeom prst="line">
              <a:avLst/>
            </a:prstGeom>
            <a:ln w="25400">
              <a:solidFill>
                <a:schemeClr val="bg1">
                  <a:lumMod val="9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Thomas Greenberg - The Right Path"/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fade in="5000.000000" out="5000.000000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0602" y="6890916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4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ags/tag1.xml><?xml version="1.0" encoding="utf-8"?>
<p:tagLst xmlns:p="http://schemas.openxmlformats.org/presentationml/2006/main">
  <p:tag name="PA" val="v4.1.3"/>
</p:tagLst>
</file>

<file path=ppt/tags/tag2.xml><?xml version="1.0" encoding="utf-8"?>
<p:tagLst xmlns:p="http://schemas.openxmlformats.org/presentationml/2006/main">
  <p:tag name="ISLIDE.DIAGRAM" val="0bf993ed-4045-43f5-b6d7-6559592aae67"/>
</p:tagLst>
</file>

<file path=ppt/tags/tag3.xml><?xml version="1.0" encoding="utf-8"?>
<p:tagLst xmlns:p="http://schemas.openxmlformats.org/presentationml/2006/main">
  <p:tag name="PA" val="v4.1.3"/>
</p:tagLst>
</file>

<file path=ppt/tags/tag4.xml><?xml version="1.0" encoding="utf-8"?>
<p:tagLst xmlns:p="http://schemas.openxmlformats.org/presentationml/2006/main">
  <p:tag name="ISPRING_PRESENTATION_TITLE" val="2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1F5F8A"/>
      </a:accent1>
      <a:accent2>
        <a:srgbClr val="2980B9"/>
      </a:accent2>
      <a:accent3>
        <a:srgbClr val="4098D4"/>
      </a:accent3>
      <a:accent4>
        <a:srgbClr val="7AB7E0"/>
      </a:accent4>
      <a:accent5>
        <a:srgbClr val="9FCBE9"/>
      </a:accent5>
      <a:accent6>
        <a:srgbClr val="C6E0F2"/>
      </a:accent6>
      <a:hlink>
        <a:srgbClr val="1F5F8A"/>
      </a:hlink>
      <a:folHlink>
        <a:srgbClr val="BFBFB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1F5F8A"/>
    </a:accent1>
    <a:accent2>
      <a:srgbClr val="2980B9"/>
    </a:accent2>
    <a:accent3>
      <a:srgbClr val="4098D4"/>
    </a:accent3>
    <a:accent4>
      <a:srgbClr val="7AB7E0"/>
    </a:accent4>
    <a:accent5>
      <a:srgbClr val="9FCBE9"/>
    </a:accent5>
    <a:accent6>
      <a:srgbClr val="C6E0F2"/>
    </a:accent6>
    <a:hlink>
      <a:srgbClr val="1F5F8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1F5F8A"/>
    </a:accent1>
    <a:accent2>
      <a:srgbClr val="2980B9"/>
    </a:accent2>
    <a:accent3>
      <a:srgbClr val="4098D4"/>
    </a:accent3>
    <a:accent4>
      <a:srgbClr val="7AB7E0"/>
    </a:accent4>
    <a:accent5>
      <a:srgbClr val="9FCBE9"/>
    </a:accent5>
    <a:accent6>
      <a:srgbClr val="C6E0F2"/>
    </a:accent6>
    <a:hlink>
      <a:srgbClr val="1F5F8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1F5F8A"/>
    </a:accent1>
    <a:accent2>
      <a:srgbClr val="2980B9"/>
    </a:accent2>
    <a:accent3>
      <a:srgbClr val="4098D4"/>
    </a:accent3>
    <a:accent4>
      <a:srgbClr val="7AB7E0"/>
    </a:accent4>
    <a:accent5>
      <a:srgbClr val="9FCBE9"/>
    </a:accent5>
    <a:accent6>
      <a:srgbClr val="C6E0F2"/>
    </a:accent6>
    <a:hlink>
      <a:srgbClr val="1F5F8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4114</Words>
  <Application>WPS 演示</Application>
  <PresentationFormat>宽屏</PresentationFormat>
  <Paragraphs>383</Paragraphs>
  <Slides>16</Slides>
  <Notes>9</Notes>
  <HiddenSlides>0</HiddenSlides>
  <MMClips>2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叶根友特楷简体</vt:lpstr>
      <vt:lpstr>Segoe UI Emoji</vt:lpstr>
      <vt:lpstr>A-OTF Outai Kaisho Std Light</vt:lpstr>
      <vt:lpstr>Segoe Script</vt:lpstr>
      <vt:lpstr>WenYue GuDianMingChaoTi (Non-Commercial Use)</vt:lpstr>
      <vt:lpstr>造字工房力黑（非商用）常规体</vt:lpstr>
      <vt:lpstr>Agency FB</vt:lpstr>
      <vt:lpstr>微软雅黑 Light</vt:lpstr>
      <vt:lpstr>黑体</vt:lpstr>
      <vt:lpstr>锐字工房云字库细圆GBK</vt:lpstr>
      <vt:lpstr>造字工房力黑（非商用）常规体</vt:lpstr>
      <vt:lpstr>Aptos</vt:lpstr>
      <vt:lpstr>Segoe UI</vt:lpstr>
      <vt:lpstr>等线</vt:lpstr>
      <vt:lpstr>Arial Unicode MS</vt:lpstr>
      <vt:lpstr>Yu Gothic UI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黄静怡</cp:lastModifiedBy>
  <cp:revision>9</cp:revision>
  <dcterms:created xsi:type="dcterms:W3CDTF">2019-06-10T08:58:00Z</dcterms:created>
  <dcterms:modified xsi:type="dcterms:W3CDTF">2026-09-23T07:13:53Z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90ECA738675C435C966CD663EC0D61F0_13</vt:lpwstr>
  </property>
  <property fmtid="{D5CDD505-2E9C-101B-9397-08002B2CF9AE}" pid="3" name="KSOProductBuildVer">
    <vt:lpwstr>2052-12.1.0.28505</vt:lpwstr>
  </property>
</Properties>
</file>